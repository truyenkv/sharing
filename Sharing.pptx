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3"/>
    <p:sldId id="257" r:id="rId4"/>
    <p:sldId id="258" r:id="rId5"/>
    <p:sldId id="265" r:id="rId6"/>
    <p:sldId id="260" r:id="rId7"/>
    <p:sldId id="261" r:id="rId8"/>
    <p:sldId id="262" r:id="rId9"/>
    <p:sldId id="263" r:id="rId10"/>
    <p:sldId id="264" r:id="rId11"/>
  </p:sldIdLst>
  <p:sldSz cx="12192000" cy="6858000"/>
  <p:notesSz cx="7103745" cy="1023429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2" autoAdjust="0"/>
    <p:restoredTop sz="94660"/>
  </p:normalViewPr>
  <p:slideViewPr>
    <p:cSldViewPr snapToGrid="0">
      <p:cViewPr varScale="1">
        <p:scale>
          <a:sx n="53" d="100"/>
          <a:sy n="53" d="100"/>
        </p:scale>
        <p:origin x="18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41" d="100"/>
          <a:sy n="41" d="100"/>
        </p:scale>
        <p:origin x="1794" y="5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notesMaster" Target="notesMasters/notesMaster1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584" y="1279287"/>
            <a:ext cx="6140577" cy="345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375" y="4925254"/>
            <a:ext cx="5682996" cy="40297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/>
          </p:cNvPicPr>
          <p:nvPr/>
        </p:nvPicPr>
        <p:blipFill>
          <a:blip r:embed="rId2"/>
          <a:srcRect b="3795"/>
          <a:stretch>
            <a:fillRect/>
          </a:stretch>
        </p:blipFill>
        <p:spPr>
          <a:xfrm>
            <a:off x="0" y="260350"/>
            <a:ext cx="12192000" cy="65976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24417" y="620713"/>
            <a:ext cx="10943167" cy="10826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altLang="zh-CN" noProof="0" smtClean="0"/>
              <a:t>Click to edit Master title style</a:t>
            </a:r>
            <a:endParaRPr lang="en-US" altLang="zh-CN" noProof="0" smtClean="0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626533" y="1843088"/>
            <a:ext cx="10949517" cy="981075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 altLang="zh-CN" noProof="0" smtClean="0"/>
              <a:t>Click to edit Master subtitle style</a:t>
            </a:r>
            <a:endParaRPr lang="en-US" altLang="zh-CN" noProof="0" smtClean="0"/>
          </a:p>
        </p:txBody>
      </p:sp>
      <p:sp>
        <p:nvSpPr>
          <p:cNvPr id="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1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1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3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174750"/>
            <a:ext cx="5384800" cy="4953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174750"/>
            <a:ext cx="5384800" cy="4953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317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0317" y="2505075"/>
            <a:ext cx="5158316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717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7D7747-D9D0-4222-AE01-C647B9939E3B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717" y="987425"/>
            <a:ext cx="6172200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7D7747-D9D0-4222-AE01-C647B9939E3B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190500"/>
            <a:ext cx="2743200" cy="593725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190500"/>
            <a:ext cx="8026400" cy="593725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2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026" name="Picture 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7" name="Rectangle 3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582613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p>
            <a:pPr lvl="0"/>
            <a:r>
              <a:rPr lang="en-US" altLang="zh-CN" dirty="0"/>
              <a:t>Click to edit Master title style</a:t>
            </a:r>
            <a:endParaRPr lang="en-US" altLang="zh-CN" dirty="0"/>
          </a:p>
        </p:txBody>
      </p:sp>
      <p:sp>
        <p:nvSpPr>
          <p:cNvPr id="1028" name="Rectangle 4"/>
          <p:cNvSpPr>
            <a:spLocks noGrp="1"/>
          </p:cNvSpPr>
          <p:nvPr>
            <p:ph type="body" idx="1"/>
          </p:nvPr>
        </p:nvSpPr>
        <p:spPr>
          <a:xfrm>
            <a:off x="609600" y="1174750"/>
            <a:ext cx="10972800" cy="4953000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1400"/>
            </a:lvl1pPr>
          </a:lstStyle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1400"/>
            </a:lvl1pPr>
          </a:lstStyle>
          <a:p>
            <a:endParaRPr lang="en-US"/>
          </a:p>
        </p:txBody>
      </p:sp>
      <p:sp>
        <p:nvSpPr>
          <p:cNvPr id="103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1400"/>
            </a:lvl1pPr>
          </a:lstStyle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rtl="0" fontAlgn="base">
        <a:spcBef>
          <a:spcPct val="0"/>
        </a:spcBef>
        <a:spcAft>
          <a:spcPct val="0"/>
        </a:spcAft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2pPr>
      <a:lvl3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3pPr>
      <a:lvl4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4pPr>
      <a:lvl5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60500" y="1176020"/>
            <a:ext cx="9144000" cy="923925"/>
          </a:xfrm>
        </p:spPr>
        <p:txBody>
          <a:bodyPr>
            <a:normAutofit/>
          </a:bodyPr>
          <a:p>
            <a:r>
              <a:rPr lang="en-US" sz="4000" b="1">
                <a:pattFill prst="dkUpDiag">
                  <a:fgClr>
                    <a:schemeClr val="bg1">
                      <a:lumMod val="50000"/>
                    </a:schemeClr>
                  </a:fgClr>
                  <a:bgClr>
                    <a:schemeClr val="tx1">
                      <a:lumMod val="75000"/>
                      <a:lumOff val="25000"/>
                    </a:schemeClr>
                  </a:bgClr>
                </a:pattFill>
                <a:effectLst>
                  <a:outerShdw blurRad="38100" dist="19050" dir="2700000" algn="tl" rotWithShape="0">
                    <a:schemeClr val="dk1">
                      <a:alpha val="40000"/>
                      <a:lumMod val="50000"/>
                    </a:schemeClr>
                  </a:outerShdw>
                </a:effectLst>
              </a:rPr>
              <a:t>Sharing</a:t>
            </a:r>
            <a:endParaRPr lang="en-US" sz="4000" b="1">
              <a:pattFill prst="dkUpDiag">
                <a:fgClr>
                  <a:schemeClr val="bg1">
                    <a:lumMod val="50000"/>
                  </a:schemeClr>
                </a:fgClr>
                <a:bgClr>
                  <a:schemeClr val="tx1">
                    <a:lumMod val="75000"/>
                    <a:lumOff val="25000"/>
                  </a:schemeClr>
                </a:bgClr>
              </a:pattFill>
              <a:effectLst>
                <a:outerShdw blurRad="38100" dist="19050" dir="2700000" algn="tl" rotWithShape="0">
                  <a:schemeClr val="dk1">
                    <a:alpha val="40000"/>
                    <a:lumMod val="50000"/>
                  </a:schemeClr>
                </a:outerShdw>
              </a:effectLst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60500" y="2099945"/>
            <a:ext cx="9271000" cy="1545590"/>
          </a:xfrm>
        </p:spPr>
        <p:txBody>
          <a:bodyPr/>
          <a:p>
            <a:r>
              <a:rPr lang="en-US" sz="44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SERENITY BDD - CUCUMBER</a:t>
            </a:r>
            <a:endParaRPr lang="en-US" sz="44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  <p:sp>
        <p:nvSpPr>
          <p:cNvPr id="4" name="Title 1"/>
          <p:cNvSpPr>
            <a:spLocks noGrp="1"/>
          </p:cNvSpPr>
          <p:nvPr/>
        </p:nvSpPr>
        <p:spPr>
          <a:xfrm>
            <a:off x="5640070" y="5540375"/>
            <a:ext cx="9144000" cy="1539875"/>
          </a:xfrm>
          <a:prstGeom prst="rect">
            <a:avLst/>
          </a:prstGeom>
          <a:noFill/>
          <a:ln w="9525">
            <a:noFill/>
          </a:ln>
        </p:spPr>
        <p:txBody>
          <a:bodyPr anchor="ctr">
            <a:normAutofit/>
            <a:scene3d>
              <a:camera prst="orthographicFront"/>
              <a:lightRig rig="threePt" dir="t"/>
            </a:scene3d>
          </a:bodyPr>
          <a:lstStyle>
            <a:lvl1pPr algn="l" rtl="0" fontAlgn="base">
              <a:spcBef>
                <a:spcPct val="0"/>
              </a:spcBef>
              <a:spcAft>
                <a:spcPct val="0"/>
              </a:spcAft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r>
              <a:rPr lang="en-US" sz="28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Team         : Dynagility</a:t>
            </a:r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  <a:p>
            <a:r>
              <a:rPr lang="en-US" sz="28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Presenter  :  Kieu Van Truyen</a:t>
            </a:r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  <a:p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  <p:sp>
        <p:nvSpPr>
          <p:cNvPr id="6" name="Title 1"/>
          <p:cNvSpPr>
            <a:spLocks noGrp="1"/>
          </p:cNvSpPr>
          <p:nvPr/>
        </p:nvSpPr>
        <p:spPr>
          <a:xfrm>
            <a:off x="1460500" y="154305"/>
            <a:ext cx="9144000" cy="923925"/>
          </a:xfrm>
          <a:prstGeom prst="rect">
            <a:avLst/>
          </a:prstGeom>
          <a:noFill/>
          <a:ln w="9525">
            <a:noFill/>
          </a:ln>
        </p:spPr>
        <p:txBody>
          <a:bodyPr anchor="ctr">
            <a:normAutofit/>
          </a:bodyPr>
          <a:lstStyle>
            <a:lvl1pPr algn="l" rtl="0" fontAlgn="base">
              <a:spcBef>
                <a:spcPct val="0"/>
              </a:spcBef>
              <a:spcAft>
                <a:spcPct val="0"/>
              </a:spcAft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/>
            <a:r>
              <a:rPr lang="en-US" sz="400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Tuong Minh Service Private Enterprise</a:t>
            </a:r>
            <a:endParaRPr lang="en-US" sz="4000">
              <a:ln w="12700">
                <a:solidFill>
                  <a:schemeClr val="accent1"/>
                </a:solidFill>
                <a:prstDash val="solid"/>
              </a:ln>
              <a:pattFill prst="pct50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accent1"/>
                </a:outerShdw>
              </a:effectLst>
            </a:endParaRPr>
          </a:p>
        </p:txBody>
      </p:sp>
      <p:sp>
        <p:nvSpPr>
          <p:cNvPr id="7" name="Subtitle 2"/>
          <p:cNvSpPr>
            <a:spLocks noGrp="1"/>
          </p:cNvSpPr>
          <p:nvPr/>
        </p:nvSpPr>
        <p:spPr>
          <a:xfrm>
            <a:off x="5372100" y="3361690"/>
            <a:ext cx="9538970" cy="154559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marL="0" indent="0" algn="l" rtl="0" fontAlgn="base">
              <a:spcBef>
                <a:spcPct val="20000"/>
              </a:spcBef>
              <a:spcAft>
                <a:spcPct val="0"/>
              </a:spcAft>
              <a:buFontTx/>
              <a:buNone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6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Source:  - http://www.thucydides.info</a:t>
            </a:r>
            <a:endParaRPr lang="en-US" sz="26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  <a:p>
            <a:r>
              <a:rPr lang="en-US" sz="28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             - </a:t>
            </a:r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174750"/>
            <a:ext cx="10972800" cy="4953000"/>
          </a:xfrm>
        </p:spPr>
        <p:txBody>
          <a:bodyPr/>
          <a:p>
            <a:r>
              <a:rPr lang="en-US" sz="4400"/>
              <a:t>I.</a:t>
            </a:r>
            <a:r>
              <a:rPr lang="en-US"/>
              <a:t>	</a:t>
            </a:r>
            <a:endParaRPr lang="en-US"/>
          </a:p>
          <a:p>
            <a:r>
              <a:rPr lang="en-US" sz="4400"/>
              <a:t>II. </a:t>
            </a:r>
            <a:endParaRPr lang="en-US" sz="4400"/>
          </a:p>
          <a:p>
            <a:r>
              <a:rPr lang="en-US" sz="4400"/>
              <a:t>III.</a:t>
            </a:r>
            <a:endParaRPr lang="en-US" sz="4400"/>
          </a:p>
          <a:p>
            <a:r>
              <a:rPr lang="en-US" sz="4400"/>
              <a:t>IV. </a:t>
            </a:r>
            <a:endParaRPr lang="en-US" sz="4400"/>
          </a:p>
          <a:p>
            <a:r>
              <a:rPr lang="en-US" sz="4400"/>
              <a:t>V.  </a:t>
            </a:r>
            <a:endParaRPr lang="en-US" sz="4400"/>
          </a:p>
          <a:p>
            <a:r>
              <a:rPr lang="en-US" sz="4400"/>
              <a:t>VI.</a:t>
            </a:r>
            <a:endParaRPr lang="en-US" sz="4400"/>
          </a:p>
        </p:txBody>
      </p:sp>
      <p:sp>
        <p:nvSpPr>
          <p:cNvPr id="4" name="Rounded Rectangle 3"/>
          <p:cNvSpPr/>
          <p:nvPr/>
        </p:nvSpPr>
        <p:spPr>
          <a:xfrm>
            <a:off x="1939925" y="1174750"/>
            <a:ext cx="8407400" cy="61531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>
            <a:scene3d>
              <a:camera prst="orthographicFront"/>
              <a:lightRig rig="threePt" dir="t"/>
            </a:scene3d>
          </a:bodyPr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2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What is BDD</a:t>
            </a:r>
            <a:r>
              <a:rPr kumimoji="0" lang="en-US" altLang="zh-CN" sz="2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?</a:t>
            </a:r>
            <a:endParaRPr kumimoji="0" lang="en-US" altLang="zh-CN" sz="2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1891665" y="2043430"/>
            <a:ext cx="8407400" cy="61531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>
            <a:scene3d>
              <a:camera prst="orthographicFront"/>
              <a:lightRig rig="threePt" dir="t"/>
            </a:scene3d>
          </a:bodyPr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2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Creating a new Serenity BDD - Cucumber project?</a:t>
            </a:r>
            <a:endParaRPr kumimoji="0" lang="en-US" altLang="zh-CN" sz="2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891665" y="2871470"/>
            <a:ext cx="8407400" cy="61531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>
            <a:scene3d>
              <a:camera prst="orthographicFront"/>
              <a:lightRig rig="threePt" dir="t"/>
            </a:scene3d>
          </a:bodyPr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28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Project Parttern</a:t>
            </a:r>
            <a:endParaRPr kumimoji="0" lang="en-US" altLang="zh-CN" sz="28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1891665" y="3668395"/>
            <a:ext cx="8407400" cy="61531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>
            <a:scene3d>
              <a:camera prst="orthographicFront"/>
              <a:lightRig rig="threePt" dir="t"/>
            </a:scene3d>
          </a:bodyPr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28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Run project and get result.</a:t>
            </a:r>
            <a:endParaRPr kumimoji="0" lang="en-US" altLang="zh-CN" sz="28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1891665" y="4482465"/>
            <a:ext cx="8407400" cy="61531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>
            <a:scene3d>
              <a:camera prst="orthographicFront"/>
              <a:lightRig rig="threePt" dir="t"/>
            </a:scene3d>
          </a:bodyPr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28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Demo</a:t>
            </a:r>
            <a:endParaRPr kumimoji="0" lang="en-US" altLang="zh-CN" sz="28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Content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892300" y="1207135"/>
            <a:ext cx="8407400" cy="61531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>
            <a:scene3d>
              <a:camera prst="orthographicFront"/>
              <a:lightRig rig="threePt" dir="t"/>
            </a:scene3d>
          </a:bodyPr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28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What is </a:t>
            </a:r>
            <a:r>
              <a:rPr kumimoji="0" lang="en-US" altLang="zh-CN" sz="28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Serenity - </a:t>
            </a:r>
            <a:r>
              <a:rPr kumimoji="0" lang="zh-CN" altLang="en-US" sz="28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BDD</a:t>
            </a:r>
            <a:r>
              <a:rPr kumimoji="0" lang="en-US" altLang="zh-CN" sz="28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?</a:t>
            </a:r>
            <a:endParaRPr kumimoji="0" lang="en-US" altLang="zh-CN" sz="28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1892300" y="2043430"/>
            <a:ext cx="8407400" cy="61531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>
            <a:scene3d>
              <a:camera prst="orthographicFront"/>
              <a:lightRig rig="threePt" dir="t"/>
            </a:scene3d>
          </a:bodyPr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28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Creating a new Serenity BDD - Cucumber project?</a:t>
            </a:r>
            <a:endParaRPr kumimoji="0" lang="en-US" altLang="zh-CN" sz="28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891665" y="5318760"/>
            <a:ext cx="8407400" cy="61531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>
            <a:scene3d>
              <a:camera prst="orthographicFront"/>
              <a:lightRig rig="threePt" dir="t"/>
            </a:scene3d>
          </a:bodyPr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28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Summary</a:t>
            </a:r>
            <a:endParaRPr kumimoji="0" lang="en-US" altLang="zh-CN" sz="28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36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I. What is Serenity - BDD?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304800" y="1178560"/>
            <a:ext cx="5710555" cy="3684270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3" name="Content Placeholder 2" descr="serenity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304800" y="1320800"/>
            <a:ext cx="5276850" cy="3324225"/>
          </a:xfrm>
          <a:prstGeom prst="rect">
            <a:avLst/>
          </a:prstGeom>
        </p:spPr>
      </p:pic>
      <p:sp>
        <p:nvSpPr>
          <p:cNvPr id="9" name="Text Box 8"/>
          <p:cNvSpPr txBox="1"/>
          <p:nvPr/>
        </p:nvSpPr>
        <p:spPr>
          <a:xfrm>
            <a:off x="6330950" y="1178560"/>
            <a:ext cx="489521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Serenity is an open source library that helps you write higher quality automated acceptance tests faster.</a:t>
            </a:r>
            <a:endParaRPr lang="en-US"/>
          </a:p>
        </p:txBody>
      </p:sp>
      <p:sp>
        <p:nvSpPr>
          <p:cNvPr id="14" name="Text Box 13"/>
          <p:cNvSpPr txBox="1"/>
          <p:nvPr/>
        </p:nvSpPr>
        <p:spPr>
          <a:xfrm>
            <a:off x="6471285" y="2268220"/>
            <a:ext cx="5111750" cy="31089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Serenity helps you :</a:t>
            </a:r>
            <a:endParaRPr lang="en-US"/>
          </a:p>
          <a:p>
            <a:endParaRPr lang="en-US"/>
          </a:p>
          <a:p>
            <a:pPr marL="285750" indent="-285750">
              <a:buFont typeface="Wingdings" panose="05000000000000000000" charset="0"/>
              <a:buChar char="ü"/>
            </a:pPr>
            <a:r>
              <a:rPr lang="en-US"/>
              <a:t>Write tests that are more flexible and easier to maintain</a:t>
            </a:r>
            <a:endParaRPr lang="en-US"/>
          </a:p>
          <a:p>
            <a:pPr marL="285750" indent="-285750">
              <a:buFont typeface="Wingdings" panose="05000000000000000000" charset="0"/>
              <a:buChar char="ü"/>
            </a:pPr>
            <a:r>
              <a:rPr lang="en-US"/>
              <a:t>Produce illustrated, narrative reports about your tests</a:t>
            </a:r>
            <a:endParaRPr lang="en-US"/>
          </a:p>
          <a:p>
            <a:pPr marL="285750" indent="-285750">
              <a:buFont typeface="Wingdings" panose="05000000000000000000" charset="0"/>
              <a:buChar char="ü"/>
            </a:pPr>
            <a:r>
              <a:rPr lang="en-US"/>
              <a:t>Map your automated tests back to your requirements</a:t>
            </a:r>
            <a:endParaRPr lang="en-US"/>
          </a:p>
          <a:p>
            <a:pPr marL="285750" indent="-285750">
              <a:buFont typeface="Wingdings" panose="05000000000000000000" charset="0"/>
              <a:buChar char="ü"/>
            </a:pPr>
            <a:r>
              <a:rPr lang="en-US"/>
              <a:t>See how much of your application is actually being tested.</a:t>
            </a:r>
            <a:endParaRPr lang="en-US"/>
          </a:p>
          <a:p>
            <a:pPr marL="285750" indent="-285750">
              <a:buFont typeface="Wingdings" panose="05000000000000000000" charset="0"/>
              <a:buChar char="ü"/>
            </a:pPr>
            <a:r>
              <a:rPr lang="en-US"/>
              <a:t>And keep tabs on project progress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36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I. What is Serenity - BDD?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36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II. Creating a new Serenity - BDD Cucumber project</a:t>
            </a:r>
            <a:r>
              <a:rPr kumimoji="0" lang="en-US" altLang="zh-CN" sz="44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endParaRPr kumimoji="0" lang="en-US" altLang="zh-CN" sz="44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1" name="Content Placeholder 10"/>
          <p:cNvSpPr/>
          <p:nvPr>
            <p:ph idx="1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III. Project Parttern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11" name="Content Placeholder 10"/>
          <p:cNvSpPr/>
          <p:nvPr>
            <p:ph idx="1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IV. Run project and get result?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11" name="Content Placeholder 10"/>
          <p:cNvSpPr/>
          <p:nvPr>
            <p:ph idx="1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V. Demo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11" name="Content Placeholder 10"/>
          <p:cNvSpPr/>
          <p:nvPr>
            <p:ph idx="1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VI. Summary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11" name="Content Placeholder 10"/>
          <p:cNvSpPr/>
          <p:nvPr>
            <p:ph idx="1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range Waves">
  <a:themeElements>
    <a:clrScheme name="Orange Waves 13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C73109"/>
      </a:accent1>
      <a:accent2>
        <a:srgbClr val="FF5050"/>
      </a:accent2>
      <a:accent3>
        <a:srgbClr val="FFFFFF"/>
      </a:accent3>
      <a:accent4>
        <a:srgbClr val="000000"/>
      </a:accent4>
      <a:accent5>
        <a:srgbClr val="E0ADAA"/>
      </a:accent5>
      <a:accent6>
        <a:srgbClr val="E74848"/>
      </a:accent6>
      <a:hlink>
        <a:srgbClr val="4D4D4D"/>
      </a:hlink>
      <a:folHlink>
        <a:srgbClr val="777777"/>
      </a:folHlink>
    </a:clrScheme>
    <a:fontScheme name="Orange Waves">
      <a:majorFont>
        <a:latin typeface="Arial"/>
        <a:ea typeface="SimSun"/>
        <a:cs typeface=""/>
      </a:majorFont>
      <a:minorFont>
        <a:latin typeface="Arial"/>
        <a:ea typeface="SimSu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lnDef>
  </a:objectDefaults>
  <a:extraClrSchemeLst>
    <a:extraClrScheme>
      <a:clrScheme name="Orange Wave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3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C73109"/>
        </a:accent1>
        <a:accent2>
          <a:srgbClr val="FF5050"/>
        </a:accent2>
        <a:accent3>
          <a:srgbClr val="FFFFFF"/>
        </a:accent3>
        <a:accent4>
          <a:srgbClr val="000000"/>
        </a:accent4>
        <a:accent5>
          <a:srgbClr val="E0ADAA"/>
        </a:accent5>
        <a:accent6>
          <a:srgbClr val="E74848"/>
        </a:accent6>
        <a:hlink>
          <a:srgbClr val="4D4D4D"/>
        </a:hlink>
        <a:folHlink>
          <a:srgbClr val="777777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936</Words>
  <Application>WPS Presentation</Application>
  <PresentationFormat>Widescreen</PresentationFormat>
  <Paragraphs>62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6" baseType="lpstr">
      <vt:lpstr>Arial</vt:lpstr>
      <vt:lpstr>SimSun</vt:lpstr>
      <vt:lpstr>Wingdings</vt:lpstr>
      <vt:lpstr>Microsoft YaHei</vt:lpstr>
      <vt:lpstr>Calibri</vt:lpstr>
      <vt:lpstr>Wingdings</vt:lpstr>
      <vt:lpstr>Orange Waves</vt:lpstr>
      <vt:lpstr>Sharing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Sharing</dc:title>
  <dc:creator>kieuv</dc:creator>
  <cp:lastModifiedBy>kvtruyen</cp:lastModifiedBy>
  <cp:revision>22</cp:revision>
  <dcterms:created xsi:type="dcterms:W3CDTF">2017-12-03T10:52:00Z</dcterms:created>
  <dcterms:modified xsi:type="dcterms:W3CDTF">2017-12-06T11:28:38Z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1033-10.2.0.5871</vt:lpwstr>
  </property>
</Properties>
</file>