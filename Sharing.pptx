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103745" cy="1023429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2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1" d="100"/>
          <a:sy n="41" d="100"/>
        </p:scale>
        <p:origin x="1794" y="5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97D7747-D9D0-4222-AE01-C647B9939E3B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FDE934FF-F4E1-47C5-9CA5-30A81DDE2BE4}" type="datetimeFigureOut">
              <a:rPr lang="en-US" smtClean="0"/>
            </a:fld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B3561BA9-CDCF-4958-B8AB-66F3BF063E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60500" y="1176020"/>
            <a:ext cx="9144000" cy="923925"/>
          </a:xfrm>
        </p:spPr>
        <p:txBody>
          <a:bodyPr>
            <a:normAutofit/>
          </a:bodyPr>
          <a:p>
            <a:r>
              <a:rPr lang="en-US" sz="4000" b="1">
                <a:pattFill prst="dkUpDiag">
                  <a:fgClr>
                    <a:schemeClr val="bg1">
                      <a:lumMod val="50000"/>
                    </a:schemeClr>
                  </a:fgClr>
                  <a:bgClr>
                    <a:schemeClr val="tx1">
                      <a:lumMod val="75000"/>
                      <a:lumOff val="25000"/>
                    </a:schemeClr>
                  </a:bgClr>
                </a:pattFill>
                <a:effectLst>
                  <a:outerShdw blurRad="38100" dist="19050" dir="2700000" algn="tl" rotWithShape="0">
                    <a:schemeClr val="dk1">
                      <a:alpha val="40000"/>
                      <a:lumMod val="50000"/>
                    </a:schemeClr>
                  </a:outerShdw>
                </a:effectLst>
              </a:rPr>
              <a:t>Sharing</a:t>
            </a:r>
            <a:endParaRPr lang="en-US" sz="4000" b="1">
              <a:pattFill prst="dkUpDiag">
                <a:fgClr>
                  <a:schemeClr val="bg1">
                    <a:lumMod val="50000"/>
                  </a:schemeClr>
                </a:fgClr>
                <a:bgClr>
                  <a:schemeClr val="tx1">
                    <a:lumMod val="75000"/>
                    <a:lumOff val="25000"/>
                  </a:schemeClr>
                </a:bgClr>
              </a:pattFill>
              <a:effectLst>
                <a:outerShdw blurRad="38100" dist="19050" dir="2700000" algn="tl" rotWithShape="0">
                  <a:schemeClr val="dk1">
                    <a:alpha val="40000"/>
                    <a:lumMod val="50000"/>
                  </a:scheme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60500" y="2099945"/>
            <a:ext cx="9271000" cy="1545590"/>
          </a:xfrm>
        </p:spPr>
        <p:txBody>
          <a:bodyPr/>
          <a:p>
            <a:r>
              <a:rPr lang="en-US" sz="44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SERENITY BDD - CUCUMBER</a:t>
            </a:r>
            <a:endParaRPr lang="en-US" sz="44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4" name="Title 1"/>
          <p:cNvSpPr>
            <a:spLocks noGrp="1"/>
          </p:cNvSpPr>
          <p:nvPr/>
        </p:nvSpPr>
        <p:spPr>
          <a:xfrm>
            <a:off x="5640070" y="5540375"/>
            <a:ext cx="9144000" cy="153987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  <a:scene3d>
              <a:camera prst="orthographicFront"/>
              <a:lightRig rig="threePt" dir="t"/>
            </a:scene3d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Team         : Dynagility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Presenter  :  Kieu Van Truyen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Title 1"/>
          <p:cNvSpPr>
            <a:spLocks noGrp="1"/>
          </p:cNvSpPr>
          <p:nvPr/>
        </p:nvSpPr>
        <p:spPr>
          <a:xfrm>
            <a:off x="1460500" y="154305"/>
            <a:ext cx="9144000" cy="923925"/>
          </a:xfrm>
          <a:prstGeom prst="rect">
            <a:avLst/>
          </a:prstGeom>
          <a:noFill/>
          <a:ln w="9525">
            <a:noFill/>
          </a:ln>
        </p:spPr>
        <p:txBody>
          <a:bodyPr anchor="ctr">
            <a:normAutofit/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SimSun" panose="02010600030101010101" pitchFamily="2" charset="-122"/>
              </a:defRPr>
            </a:lvl9pPr>
          </a:lstStyle>
          <a:p>
            <a:pPr algn="ctr"/>
            <a:r>
              <a:rPr lang="en-US" sz="400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Tuong Minh Service Private Enterprise</a:t>
            </a:r>
            <a:endParaRPr lang="en-US" sz="400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7" name="Subtitle 2"/>
          <p:cNvSpPr>
            <a:spLocks noGrp="1"/>
          </p:cNvSpPr>
          <p:nvPr/>
        </p:nvSpPr>
        <p:spPr>
          <a:xfrm>
            <a:off x="5372100" y="3361690"/>
            <a:ext cx="9538970" cy="1545590"/>
          </a:xfrm>
          <a:prstGeom prst="rect">
            <a:avLst/>
          </a:prstGeom>
          <a:noFill/>
          <a:ln w="9525">
            <a:noFill/>
          </a:ln>
        </p:spPr>
        <p:txBody>
          <a:bodyPr/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FontTx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6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Source:  - http://www.thucydides.info</a:t>
            </a:r>
            <a:endParaRPr lang="en-US" sz="26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  <a:p>
            <a:r>
              <a:rPr lang="en-US" sz="280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             - </a:t>
            </a:r>
            <a:endParaRPr lang="en-US" sz="280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174750"/>
            <a:ext cx="10972800" cy="4953000"/>
          </a:xfrm>
        </p:spPr>
        <p:txBody>
          <a:bodyPr/>
          <a:p>
            <a:r>
              <a:rPr lang="en-US" sz="4400"/>
              <a:t>I.</a:t>
            </a:r>
            <a:r>
              <a:rPr lang="en-US"/>
              <a:t>	</a:t>
            </a:r>
            <a:endParaRPr lang="en-US"/>
          </a:p>
          <a:p>
            <a:r>
              <a:rPr lang="en-US" sz="4400"/>
              <a:t>II. </a:t>
            </a:r>
            <a:endParaRPr lang="en-US" sz="4400"/>
          </a:p>
          <a:p>
            <a:r>
              <a:rPr lang="en-US" sz="4400"/>
              <a:t>III.</a:t>
            </a:r>
            <a:endParaRPr lang="en-US" sz="4400"/>
          </a:p>
          <a:p>
            <a:r>
              <a:rPr lang="en-US" sz="4400"/>
              <a:t>IV. </a:t>
            </a:r>
            <a:endParaRPr lang="en-US" sz="4400"/>
          </a:p>
          <a:p>
            <a:r>
              <a:rPr lang="en-US" sz="4400"/>
              <a:t>V.  </a:t>
            </a:r>
            <a:endParaRPr lang="en-US" sz="4400"/>
          </a:p>
          <a:p>
            <a:r>
              <a:rPr lang="en-US" sz="4400"/>
              <a:t>VI.</a:t>
            </a:r>
            <a:endParaRPr lang="en-US" sz="4400"/>
          </a:p>
        </p:txBody>
      </p:sp>
      <p:sp>
        <p:nvSpPr>
          <p:cNvPr id="4" name="Rounded Rectangle 3"/>
          <p:cNvSpPr/>
          <p:nvPr/>
        </p:nvSpPr>
        <p:spPr>
          <a:xfrm>
            <a:off x="1939925" y="117475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BDD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939925" y="1964055"/>
            <a:ext cx="835914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</a:t>
            </a: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Cucumber?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939925" y="284734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92300" y="368427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Project Parttern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891665" y="4536440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Run project and get result.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891665" y="529399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Demo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40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Content</a:t>
            </a:r>
            <a:endParaRPr kumimoji="0" lang="en-US" altLang="zh-CN" sz="40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892300" y="120713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Serenity - </a:t>
            </a: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BDD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892300" y="1996440"/>
            <a:ext cx="835914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What is </a:t>
            </a: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Cucumber?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1892300" y="2879725"/>
            <a:ext cx="8407400" cy="615315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>
            <a:scene3d>
              <a:camera prst="orthographicFront"/>
              <a:lightRig rig="threePt" dir="t"/>
            </a:scene3d>
          </a:bodyPr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28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Creating a new Serenity BDD - Cucumber project?</a:t>
            </a:r>
            <a:endParaRPr kumimoji="0" lang="en-US" altLang="zh-CN" sz="28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I. What is Serenity - BDD?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04800" y="1178560"/>
            <a:ext cx="5710555" cy="3684270"/>
          </a:xfrm>
          <a:prstGeom prst="roundRect">
            <a:avLst/>
          </a:prstGeom>
          <a:gradFill rotWithShape="0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pic>
        <p:nvPicPr>
          <p:cNvPr id="3" name="Content Placeholder 2" descr="serenity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04800" y="1320800"/>
            <a:ext cx="5276850" cy="3324225"/>
          </a:xfrm>
          <a:prstGeom prst="rect">
            <a:avLst/>
          </a:prstGeom>
        </p:spPr>
      </p:pic>
      <p:sp>
        <p:nvSpPr>
          <p:cNvPr id="9" name="Text Box 8"/>
          <p:cNvSpPr txBox="1"/>
          <p:nvPr/>
        </p:nvSpPr>
        <p:spPr>
          <a:xfrm>
            <a:off x="6330950" y="1178560"/>
            <a:ext cx="48952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is an open source library that helps you write higher quality automated acceptance tests faster.</a:t>
            </a:r>
            <a:endParaRPr lang="en-US"/>
          </a:p>
        </p:txBody>
      </p:sp>
      <p:sp>
        <p:nvSpPr>
          <p:cNvPr id="14" name="Text Box 13"/>
          <p:cNvSpPr txBox="1"/>
          <p:nvPr/>
        </p:nvSpPr>
        <p:spPr>
          <a:xfrm>
            <a:off x="6471285" y="2268220"/>
            <a:ext cx="4627245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Serenity helps you :</a:t>
            </a:r>
            <a:endParaRPr lang="en-US"/>
          </a:p>
          <a:p>
            <a:endParaRPr lang="en-US"/>
          </a:p>
          <a:p>
            <a:r>
              <a:rPr lang="en-US"/>
              <a:t>    Write tests that are more flexible and easier to maintain</a:t>
            </a:r>
            <a:endParaRPr lang="en-US"/>
          </a:p>
          <a:p>
            <a:r>
              <a:rPr lang="en-US"/>
              <a:t>    Produce illustrated, narrative reports about your tests</a:t>
            </a:r>
            <a:endParaRPr lang="en-US"/>
          </a:p>
          <a:p>
            <a:r>
              <a:rPr lang="en-US"/>
              <a:t>    Map your automated tests back to your requirements</a:t>
            </a:r>
            <a:endParaRPr lang="en-US"/>
          </a:p>
          <a:p>
            <a:r>
              <a:rPr lang="en-US"/>
              <a:t>    See how much of your application is actually being tested</a:t>
            </a:r>
            <a:endParaRPr lang="en-US"/>
          </a:p>
          <a:p>
            <a:r>
              <a:rPr lang="en-US"/>
              <a:t>    And keep tabs on project progress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II. What is Cucumber?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36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III. Creating a new Serenity - BDD Cucumber project</a:t>
            </a:r>
            <a:r>
              <a:rPr kumimoji="0" lang="en-US" altLang="zh-CN" sz="4400" b="0" i="0" u="none" strike="noStrike" cap="none" normalizeH="0" baseline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</a:rPr>
              <a:t> </a:t>
            </a:r>
            <a:endParaRPr kumimoji="0" lang="en-US" altLang="zh-CN" sz="44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IV. Project Parttern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V. Run project and get result?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0" name="Flowchart: Process 9"/>
          <p:cNvSpPr/>
          <p:nvPr/>
        </p:nvSpPr>
        <p:spPr>
          <a:xfrm>
            <a:off x="609600" y="190500"/>
            <a:ext cx="10972800" cy="784860"/>
          </a:xfrm>
          <a:prstGeom prst="flowChartProcess">
            <a:avLst/>
          </a:prstGeom>
          <a:gradFill rotWithShape="0">
            <a:gsLst>
              <a:gs pos="0">
                <a:srgbClr val="012D86"/>
              </a:gs>
              <a:gs pos="100000">
                <a:srgbClr val="0E2557"/>
              </a:gs>
            </a:gsLst>
            <a:lin ang="5400000" scaled="0"/>
          </a:gradFill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50800" dir="5400000" algn="ctr" rotWithShape="0">
              <a:srgbClr val="002060">
                <a:alpha val="38000"/>
              </a:srgbClr>
            </a:outerShdw>
          </a:effectLst>
        </p:spPr>
        <p:txBody>
          <a:bodyPr vert="horz" wrap="none" lIns="91440" tIns="45720" rIns="91440" bIns="45720" numCol="1" anchor="ctr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360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SimSun" panose="02010600030101010101" pitchFamily="2" charset="-122"/>
                <a:sym typeface="+mn-ea"/>
              </a:rPr>
              <a:t>VI. Demo</a:t>
            </a:r>
            <a:endParaRPr kumimoji="0" lang="en-US" altLang="zh-CN" sz="3600" b="0" i="0" u="none" strike="noStrike" cap="none" normalizeH="0" baseline="0" smtClean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  <a:latin typeface="Arial" panose="020B0604020202020204" pitchFamily="34" charset="0"/>
              <a:ea typeface="SimSun" panose="02010600030101010101" pitchFamily="2" charset="-122"/>
              <a:sym typeface="+mn-ea"/>
            </a:endParaRPr>
          </a:p>
        </p:txBody>
      </p:sp>
      <p:sp>
        <p:nvSpPr>
          <p:cNvPr id="11" name="Content Placeholder 10"/>
          <p:cNvSpPr/>
          <p:nvPr>
            <p:ph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966</Words>
  <Application>WPS Presentation</Application>
  <PresentationFormat>Widescreen</PresentationFormat>
  <Paragraphs>62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SimSun</vt:lpstr>
      <vt:lpstr>Wingdings</vt:lpstr>
      <vt:lpstr>Microsoft YaHei</vt:lpstr>
      <vt:lpstr/>
      <vt:lpstr>Arial Unicode MS</vt:lpstr>
      <vt:lpstr>Calibri</vt:lpstr>
      <vt:lpstr>Segoe Print</vt:lpstr>
      <vt:lpstr>Orange Waves</vt:lpstr>
      <vt:lpstr>Sharing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Sharing</dc:title>
  <dc:creator>kieuv</dc:creator>
  <cp:lastModifiedBy>kieuv</cp:lastModifiedBy>
  <cp:revision>19</cp:revision>
  <dcterms:created xsi:type="dcterms:W3CDTF">2017-12-03T10:52:00Z</dcterms:created>
  <dcterms:modified xsi:type="dcterms:W3CDTF">2017-12-04T13:07:44Z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1033-10.2.0.5965</vt:lpwstr>
  </property>
</Properties>
</file>