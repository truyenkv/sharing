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56" r:id="rId3"/>
    <p:sldId id="257" r:id="rId4"/>
    <p:sldId id="328" r:id="rId5"/>
    <p:sldId id="322" r:id="rId6"/>
    <p:sldId id="335" r:id="rId7"/>
    <p:sldId id="323" r:id="rId8"/>
    <p:sldId id="336" r:id="rId9"/>
    <p:sldId id="324" r:id="rId10"/>
    <p:sldId id="325" r:id="rId11"/>
    <p:sldId id="326" r:id="rId12"/>
    <p:sldId id="347" r:id="rId13"/>
    <p:sldId id="343" r:id="rId14"/>
    <p:sldId id="348" r:id="rId15"/>
    <p:sldId id="342" r:id="rId16"/>
    <p:sldId id="277" r:id="rId17"/>
  </p:sldIdLst>
  <p:sldSz cx="12192000" cy="6858000"/>
  <p:notesSz cx="7103745" cy="1023429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2" autoAdjust="0"/>
    <p:restoredTop sz="94660"/>
  </p:normalViewPr>
  <p:slideViewPr>
    <p:cSldViewPr snapToGrid="0">
      <p:cViewPr varScale="1">
        <p:scale>
          <a:sx n="78" d="100"/>
          <a:sy n="78" d="100"/>
        </p:scale>
        <p:origin x="120" y="8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41" d="100"/>
          <a:sy n="41" d="100"/>
        </p:scale>
        <p:origin x="1794" y="5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notesMaster" Target="notesMasters/notesMaster1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584" y="1279287"/>
            <a:ext cx="6140577" cy="345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375" y="4925254"/>
            <a:ext cx="5682996" cy="40297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/>
          </p:cNvPicPr>
          <p:nvPr/>
        </p:nvPicPr>
        <p:blipFill>
          <a:blip r:embed="rId2"/>
          <a:srcRect b="3795"/>
          <a:stretch>
            <a:fillRect/>
          </a:stretch>
        </p:blipFill>
        <p:spPr>
          <a:xfrm>
            <a:off x="0" y="260350"/>
            <a:ext cx="12192000" cy="65976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24417" y="620713"/>
            <a:ext cx="10943167" cy="10826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altLang="zh-CN" noProof="0" smtClean="0"/>
              <a:t>Click to edit Master title style</a:t>
            </a:r>
            <a:endParaRPr lang="en-US" altLang="zh-CN" noProof="0" smtClean="0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626533" y="1843088"/>
            <a:ext cx="10949517" cy="981075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 altLang="zh-CN" noProof="0" smtClean="0"/>
              <a:t>Click to edit Master subtitle style</a:t>
            </a:r>
            <a:endParaRPr lang="en-US" altLang="zh-CN" noProof="0" smtClean="0"/>
          </a:p>
        </p:txBody>
      </p:sp>
      <p:sp>
        <p:nvSpPr>
          <p:cNvPr id="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1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1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3"/>
            <a:ext cx="105156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174750"/>
            <a:ext cx="5384800" cy="4953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174750"/>
            <a:ext cx="5384800" cy="4953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0317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0317" y="2505075"/>
            <a:ext cx="5158316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717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97D7747-D9D0-4222-AE01-C647B9939E3B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717" y="987425"/>
            <a:ext cx="6172200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32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97D7747-D9D0-4222-AE01-C647B9939E3B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190500"/>
            <a:ext cx="2743200" cy="593725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190500"/>
            <a:ext cx="8026400" cy="593725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2.jpe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7" name="Rectangle 3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582613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en-US" altLang="zh-CN" dirty="0"/>
              <a:t>Click to edit Master title style</a:t>
            </a:r>
            <a:endParaRPr lang="en-US" altLang="zh-CN" dirty="0"/>
          </a:p>
        </p:txBody>
      </p:sp>
      <p:sp>
        <p:nvSpPr>
          <p:cNvPr id="1028" name="Rectangle 4"/>
          <p:cNvSpPr>
            <a:spLocks noGrp="1"/>
          </p:cNvSpPr>
          <p:nvPr>
            <p:ph type="body" idx="1"/>
          </p:nvPr>
        </p:nvSpPr>
        <p:spPr>
          <a:xfrm>
            <a:off x="609600" y="1174750"/>
            <a:ext cx="10972800" cy="4953000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lvl="0"/>
            <a:r>
              <a:rPr lang="en-US" altLang="zh-CN" dirty="0"/>
              <a:t>Click to 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 sz="1400"/>
            </a:lvl1pPr>
          </a:lstStyle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>
              <a:defRPr sz="1400"/>
            </a:lvl1pPr>
          </a:lstStyle>
          <a:p>
            <a:endParaRPr lang="en-US"/>
          </a:p>
        </p:txBody>
      </p:sp>
      <p:sp>
        <p:nvSpPr>
          <p:cNvPr id="103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>
              <a:defRPr sz="1400"/>
            </a:lvl1pPr>
          </a:lstStyle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rtl="0" fontAlgn="base">
        <a:spcBef>
          <a:spcPct val="0"/>
        </a:spcBef>
        <a:spcAft>
          <a:spcPct val="0"/>
        </a:spcAft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2pPr>
      <a:lvl3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3pPr>
      <a:lvl4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4pPr>
      <a:lvl5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60500" y="795020"/>
            <a:ext cx="9144000" cy="923925"/>
          </a:xfrm>
        </p:spPr>
        <p:txBody>
          <a:bodyPr>
            <a:normAutofit/>
          </a:bodyPr>
          <a:lstStyle/>
          <a:p>
            <a:r>
              <a:rPr lang="en-US" sz="4000" b="1">
                <a:pattFill prst="dkUpDiag">
                  <a:fgClr>
                    <a:schemeClr val="bg1">
                      <a:lumMod val="50000"/>
                    </a:schemeClr>
                  </a:fgClr>
                  <a:bgClr>
                    <a:schemeClr val="tx1">
                      <a:lumMod val="75000"/>
                      <a:lumOff val="25000"/>
                    </a:schemeClr>
                  </a:bgClr>
                </a:pattFill>
                <a:effectLst>
                  <a:outerShdw blurRad="38100" dist="19050" dir="2700000" algn="tl" rotWithShape="0">
                    <a:schemeClr val="dk1">
                      <a:alpha val="40000"/>
                      <a:lumMod val="50000"/>
                    </a:schemeClr>
                  </a:outerShdw>
                </a:effectLst>
              </a:rPr>
              <a:t> Sharing</a:t>
            </a:r>
            <a:endParaRPr lang="en-US" sz="4000" b="1">
              <a:pattFill prst="dkUpDiag">
                <a:fgClr>
                  <a:schemeClr val="bg1">
                    <a:lumMod val="50000"/>
                  </a:schemeClr>
                </a:fgClr>
                <a:bgClr>
                  <a:schemeClr val="tx1">
                    <a:lumMod val="75000"/>
                    <a:lumOff val="25000"/>
                  </a:schemeClr>
                </a:bgClr>
              </a:pattFill>
              <a:effectLst>
                <a:outerShdw blurRad="38100" dist="19050" dir="2700000" algn="tl" rotWithShape="0">
                  <a:schemeClr val="dk1">
                    <a:alpha val="40000"/>
                    <a:lumMod val="50000"/>
                  </a:schemeClr>
                </a:outerShdw>
              </a:effectLst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60500" y="1579245"/>
            <a:ext cx="9271000" cy="1545590"/>
          </a:xfrm>
        </p:spPr>
        <p:txBody>
          <a:bodyPr/>
          <a:lstStyle/>
          <a:p>
            <a:r>
              <a:rPr lang="en-US" sz="44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 Automation Testing</a:t>
            </a:r>
            <a:endParaRPr lang="en-US" sz="44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  <a:p>
            <a:r>
              <a:rPr lang="en-US" sz="44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 SERENITY BDD - CUCUMBER</a:t>
            </a:r>
            <a:endParaRPr lang="en-US" sz="44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  <p:sp>
        <p:nvSpPr>
          <p:cNvPr id="4" name="Title 1"/>
          <p:cNvSpPr>
            <a:spLocks noGrp="1"/>
          </p:cNvSpPr>
          <p:nvPr/>
        </p:nvSpPr>
        <p:spPr>
          <a:xfrm>
            <a:off x="5271770" y="4422775"/>
            <a:ext cx="9144000" cy="1539875"/>
          </a:xfrm>
          <a:prstGeom prst="rect">
            <a:avLst/>
          </a:prstGeom>
          <a:noFill/>
          <a:ln w="9525">
            <a:noFill/>
          </a:ln>
        </p:spPr>
        <p:txBody>
          <a:bodyPr anchor="ctr">
            <a:normAutofit/>
            <a:scene3d>
              <a:camera prst="orthographicFront"/>
              <a:lightRig rig="threePt" dir="t"/>
            </a:scene3d>
          </a:bodyPr>
          <a:lstStyle>
            <a:lvl1pPr algn="l" rtl="0" fontAlgn="base">
              <a:spcBef>
                <a:spcPct val="0"/>
              </a:spcBef>
              <a:spcAft>
                <a:spcPct val="0"/>
              </a:spcAft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r>
              <a:rPr lang="en-US" sz="28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Team         : Dynagility - QC</a:t>
            </a:r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  <a:p>
            <a:r>
              <a:rPr lang="en-US" sz="28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Presenter  :  Kieu Van Truyen</a:t>
            </a:r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  <a:p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  <p:sp>
        <p:nvSpPr>
          <p:cNvPr id="6" name="Title 1"/>
          <p:cNvSpPr>
            <a:spLocks noGrp="1"/>
          </p:cNvSpPr>
          <p:nvPr/>
        </p:nvSpPr>
        <p:spPr>
          <a:xfrm>
            <a:off x="1460500" y="154305"/>
            <a:ext cx="9144000" cy="923925"/>
          </a:xfrm>
          <a:prstGeom prst="rect">
            <a:avLst/>
          </a:prstGeom>
          <a:noFill/>
          <a:ln w="9525">
            <a:noFill/>
          </a:ln>
        </p:spPr>
        <p:txBody>
          <a:bodyPr anchor="ctr">
            <a:normAutofit/>
          </a:bodyPr>
          <a:lstStyle>
            <a:lvl1pPr algn="l" rtl="0" fontAlgn="base">
              <a:spcBef>
                <a:spcPct val="0"/>
              </a:spcBef>
              <a:spcAft>
                <a:spcPct val="0"/>
              </a:spcAft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/>
            <a:r>
              <a:rPr lang="en-US" sz="400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TMA SOLUTION</a:t>
            </a:r>
            <a:endParaRPr lang="en-US" sz="4000">
              <a:ln w="12700">
                <a:solidFill>
                  <a:schemeClr val="accent1"/>
                </a:solidFill>
                <a:prstDash val="solid"/>
              </a:ln>
              <a:pattFill prst="pct50">
                <a:fgClr>
                  <a:schemeClr val="accent1"/>
                </a:fgClr>
                <a:bgClr>
                  <a:schemeClr val="accent1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accent1"/>
                </a:outerShdw>
              </a:effectLst>
            </a:endParaRPr>
          </a:p>
        </p:txBody>
      </p:sp>
      <p:sp>
        <p:nvSpPr>
          <p:cNvPr id="7" name="Subtitle 2"/>
          <p:cNvSpPr>
            <a:spLocks noGrp="1"/>
          </p:cNvSpPr>
          <p:nvPr/>
        </p:nvSpPr>
        <p:spPr>
          <a:xfrm>
            <a:off x="5372100" y="3361690"/>
            <a:ext cx="9538970" cy="154559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marL="0" indent="0" algn="l" rtl="0" fontAlgn="base">
              <a:spcBef>
                <a:spcPct val="20000"/>
              </a:spcBef>
              <a:spcAft>
                <a:spcPct val="0"/>
              </a:spcAft>
              <a:buFontTx/>
              <a:buNone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             </a:t>
            </a:r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	</a:t>
            </a:r>
            <a:r>
              <a:rPr lang="en-US" sz="4400"/>
              <a:t> </a:t>
            </a:r>
            <a:endParaRPr lang="en-US" sz="4400"/>
          </a:p>
          <a:p>
            <a:endParaRPr lang="en-US" sz="4400"/>
          </a:p>
          <a:p>
            <a:pPr marL="0" indent="0">
              <a:buNone/>
            </a:pPr>
            <a:endParaRPr lang="en-US" sz="4400"/>
          </a:p>
          <a:p>
            <a:pPr marL="0" indent="0">
              <a:buNone/>
            </a:pPr>
            <a:endParaRPr lang="en-US" sz="4400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I. Scenario Map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11" name="Content Placeholder 10" descr="Scenario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2056130" y="1174750"/>
            <a:ext cx="7750175" cy="471233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sz="half" idx="1"/>
          </p:nvPr>
        </p:nvSpPr>
        <p:spPr/>
        <p:txBody>
          <a:bodyPr/>
          <a:p>
            <a:pPr marL="0" indent="0">
              <a:buNone/>
            </a:pPr>
            <a:endParaRPr lang="en-US" sz="1200">
              <a:solidFill>
                <a:srgbClr val="92D050"/>
              </a:solidFill>
            </a:endParaRPr>
          </a:p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Background:</a:t>
            </a:r>
            <a:r>
              <a:rPr lang="en-US" sz="1200"/>
              <a:t> 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Given </a:t>
            </a:r>
            <a:r>
              <a:rPr lang="en-US" sz="1200"/>
              <a:t>The user login "http://goodjobs-dev.dynagility.us/login" by "hl.01@yopmail.com" and "Cdbently2408!" successfully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r>
              <a:rPr lang="en-US" sz="1200">
                <a:solidFill>
                  <a:srgbClr val="92D050"/>
                </a:solidFill>
              </a:rPr>
              <a:t>Scenario</a:t>
            </a:r>
            <a:r>
              <a:rPr lang="en-US" sz="1200"/>
              <a:t>: Create Admin Account successfully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When </a:t>
            </a:r>
            <a:r>
              <a:rPr lang="en-US" sz="1200"/>
              <a:t>Click on Manage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Manage Administrators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Add User button.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Input First Name is "Truyen", Last Name is "Kieu" and Email is "cd.0022@yopmail.com"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Save button on Manage User Profile screen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Then </a:t>
            </a:r>
            <a:r>
              <a:rPr lang="en-US" sz="1200"/>
              <a:t>System should navigate to "Manage System Administrators"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"cd.0022@yopmail.com" should be shown on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"Truyen Kieu" Shows correctly be shown on screen.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3" name="Content Placeholder 2" descr="newuser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5899785" y="1872615"/>
            <a:ext cx="4381500" cy="181546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sz="half" idx="1"/>
          </p:nvPr>
        </p:nvSpPr>
        <p:spPr>
          <a:xfrm>
            <a:off x="609600" y="1174750"/>
            <a:ext cx="10763250" cy="4953000"/>
          </a:xfrm>
        </p:spPr>
        <p:txBody>
          <a:bodyPr/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Background:</a:t>
            </a:r>
            <a:r>
              <a:rPr lang="en-US" sz="1200"/>
              <a:t> 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Given </a:t>
            </a:r>
            <a:r>
              <a:rPr lang="en-US" sz="1200"/>
              <a:t>The user login "http://goodjobs-dev.dynagility.us/login" by "hl.01@yopmail.com" and "Cdbently2408!" successfully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 </a:t>
            </a:r>
            <a:r>
              <a:rPr lang="en-US" sz="1200">
                <a:solidFill>
                  <a:srgbClr val="92D050"/>
                </a:solidFill>
              </a:rPr>
              <a:t>Scenario</a:t>
            </a:r>
            <a:r>
              <a:rPr lang="en-US" sz="1200"/>
              <a:t>: Create Admin-Duplicate account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When </a:t>
            </a:r>
            <a:r>
              <a:rPr lang="en-US" sz="1200"/>
              <a:t>Click on Manage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Manage Administrators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Add User button.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Input First Name is "Truyen", Last Name is "Kieu" and Email is "cd.0022@yopmail.com"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Save button on Manage User Profile screen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Then </a:t>
            </a:r>
            <a:r>
              <a:rPr lang="en-US" sz="1200"/>
              <a:t>The "Email cd.0022@yopmail.com is already in use" was shown on screen.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3" name="Content Placeholder 2" descr="duplicate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2130425" y="3601085"/>
            <a:ext cx="5076825" cy="20764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sz="half" idx="1"/>
          </p:nvPr>
        </p:nvSpPr>
        <p:spPr/>
        <p:txBody>
          <a:bodyPr/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Background:</a:t>
            </a:r>
            <a:r>
              <a:rPr lang="en-US" sz="1200"/>
              <a:t> 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Given </a:t>
            </a:r>
            <a:r>
              <a:rPr lang="en-US" sz="1200"/>
              <a:t>The user login "http://goodjobs-dev.dynagility.us/login" by "hl.01@yopmail.com" and "Cdbently2408!" successfully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r>
              <a:rPr lang="en-US" sz="1200">
                <a:solidFill>
                  <a:srgbClr val="92D050"/>
                </a:solidFill>
              </a:rPr>
              <a:t>Scenario</a:t>
            </a:r>
            <a:r>
              <a:rPr lang="en-US" sz="1200"/>
              <a:t>: Create Admin-Archived account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When </a:t>
            </a:r>
            <a:r>
              <a:rPr lang="en-US" sz="1200"/>
              <a:t>Click on Manage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Manage Administrators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Add User button.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Input First Name is "Truyen", Last Name is "Kieu" and Email is "cd.001@yopmail.com"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Save button on Manage User Profile screen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Then </a:t>
            </a:r>
            <a:r>
              <a:rPr lang="en-US" sz="1200"/>
              <a:t>Click on Enable button on Confirmation popup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System should navigate to "Manage System Administrators"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"cd.001@yopmail.com" should be shown on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"Truyen Kieu" Shows correctly be shown on screen.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7" name="Content Placeholder 6" descr="archived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5529580" y="1737995"/>
            <a:ext cx="5384800" cy="171323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sz="half" idx="1"/>
          </p:nvPr>
        </p:nvSpPr>
        <p:spPr/>
        <p:txBody>
          <a:bodyPr/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Background:</a:t>
            </a:r>
            <a:r>
              <a:rPr lang="en-US" sz="1200"/>
              <a:t> 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Given </a:t>
            </a:r>
            <a:r>
              <a:rPr lang="en-US" sz="1200"/>
              <a:t>The user login "http://goodjobs-dev.dynagility.us/login" by "hl.01@yopmail.com" and "Cdbently2408!" successfully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Scenario</a:t>
            </a:r>
            <a:r>
              <a:rPr lang="en-US" sz="1200"/>
              <a:t>: Update User Profile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When </a:t>
            </a:r>
            <a:r>
              <a:rPr lang="en-US" sz="1200"/>
              <a:t>Click User menu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User profile link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Update First Name is "Truyen", Last Name is "Kieu"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Save button on Manage User Profile screen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Then </a:t>
            </a:r>
            <a:r>
              <a:rPr lang="en-US" sz="1200"/>
              <a:t>System should navigate to "Manage System Administrators"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"hl.01@yopmail.com" should be shown on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"Truyen Kieu" Shows correctly be shown on screen.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3" name="Content Placeholder 2" descr="update user profile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6083300" y="1632585"/>
            <a:ext cx="4095750" cy="17621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sz="half" idx="1"/>
          </p:nvPr>
        </p:nvSpPr>
        <p:spPr>
          <a:xfrm>
            <a:off x="609600" y="1174750"/>
            <a:ext cx="10829925" cy="4953000"/>
          </a:xfrm>
        </p:spPr>
        <p:txBody>
          <a:bodyPr/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Background:</a:t>
            </a:r>
            <a:r>
              <a:rPr lang="en-US" sz="1200"/>
              <a:t> 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Given </a:t>
            </a:r>
            <a:r>
              <a:rPr lang="en-US" sz="1200"/>
              <a:t>The user login "http://goodjobs-dev.dynagility.us/login" by "hl.01@yopmail.com" and "Cdbently2408!" successfully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r>
              <a:rPr lang="en-US" sz="1200">
                <a:solidFill>
                  <a:srgbClr val="92D050"/>
                </a:solidFill>
              </a:rPr>
              <a:t>Scenario</a:t>
            </a:r>
            <a:r>
              <a:rPr lang="en-US" sz="1200"/>
              <a:t>: Create Company account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When </a:t>
            </a:r>
            <a:r>
              <a:rPr lang="en-US" sz="1200"/>
              <a:t>Click on Manage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  <a:effectLst/>
              </a:rPr>
              <a:t>And </a:t>
            </a:r>
            <a:r>
              <a:rPr lang="en-US" sz="1200"/>
              <a:t>Click on Add Company button on Manage Companies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Input required field are Company Name: "Cdbently 021", Company Identifier: "11-1111111" and select required drop down box.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Input Street Address is "123 new orl land", City is "newyork", State is "US", Zip is "11111".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Save button on Manage Company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Add user with Fist Name is "user2 fName", Last Name is "user2 lName", and Email is "cd.0021@yopmail.com"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Save button on Manage Company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Then </a:t>
            </a:r>
            <a:r>
              <a:rPr lang="en-US" sz="1200"/>
              <a:t>System should navigate to Manage Companies screen and "Manage Companies" should shown.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"Cdbently 021" Shows correctly be shown on Manage Companies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3" name="Content Placeholder 2" descr="createcompany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1862455" y="4259580"/>
            <a:ext cx="5384800" cy="16287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sz="half" idx="1"/>
          </p:nvPr>
        </p:nvSpPr>
        <p:spPr>
          <a:xfrm>
            <a:off x="609600" y="1174750"/>
            <a:ext cx="10789285" cy="4953000"/>
          </a:xfrm>
        </p:spPr>
        <p:txBody>
          <a:bodyPr/>
          <a:p>
            <a:pPr marL="0" indent="0">
              <a:buNone/>
            </a:pPr>
            <a:endParaRPr lang="en-US" sz="1200">
              <a:solidFill>
                <a:srgbClr val="92D050"/>
              </a:solidFill>
            </a:endParaRPr>
          </a:p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Feature</a:t>
            </a:r>
            <a:r>
              <a:rPr lang="en-US" sz="1200"/>
              <a:t>: Company Manage account checks login on first time.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r>
              <a:rPr lang="en-US" sz="1200">
                <a:solidFill>
                  <a:srgbClr val="92D050"/>
                </a:solidFill>
              </a:rPr>
              <a:t>Scenario</a:t>
            </a:r>
            <a:r>
              <a:rPr lang="en-US" sz="1200"/>
              <a:t>: Admin authorise and add user successfully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When </a:t>
            </a:r>
            <a:r>
              <a:rPr lang="en-US" sz="1200"/>
              <a:t>Join Working Metrics screen via link is "http://goodjobs-dev.dynagility.us/onboarding?email=hl.tr.23@yopmail.com&amp;token=NWRsb3RkMnJiZGo%3D"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Create an account on Working Metrics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Create password is "12345678xx@X".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Authorized company, update many drop down list value.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Add a new User account with First Name is "truyen", Last Name is "kieu", email is "truyen.linh.3@yopmail.com", role is user.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Next to Location screens.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Next to Report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Then </a:t>
            </a:r>
            <a:r>
              <a:rPr lang="en-US" sz="1200"/>
              <a:t>The title is "Complete these steps to provide employee data" should show on Upload Employee Data screens.</a:t>
            </a:r>
            <a:endParaRPr lang="en-US" sz="1200"/>
          </a:p>
          <a:p>
            <a:pPr marL="0" indent="0">
              <a:buNone/>
            </a:pP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II. Company Manager 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3" name="Content Placeholder 2" descr="cpn1st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2214880" y="4046855"/>
            <a:ext cx="5384800" cy="122618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sz="half" idx="1"/>
          </p:nvPr>
        </p:nvSpPr>
        <p:spPr>
          <a:xfrm>
            <a:off x="609600" y="1174750"/>
            <a:ext cx="10972800" cy="4953000"/>
          </a:xfrm>
        </p:spPr>
        <p:txBody>
          <a:bodyPr/>
          <a:p>
            <a:pPr marL="0" indent="0">
              <a:buNone/>
            </a:pPr>
            <a:endParaRPr lang="en-US" sz="1200">
              <a:solidFill>
                <a:srgbClr val="92D050"/>
              </a:solidFill>
            </a:endParaRPr>
          </a:p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Feature</a:t>
            </a:r>
            <a:r>
              <a:rPr lang="en-US" sz="1200"/>
              <a:t>: Company User account checks login on first time.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r>
              <a:rPr lang="en-US" sz="1200">
                <a:solidFill>
                  <a:srgbClr val="92D050"/>
                </a:solidFill>
              </a:rPr>
              <a:t>Scenario</a:t>
            </a:r>
            <a:r>
              <a:rPr lang="en-US" sz="1200"/>
              <a:t>: User login in first time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When </a:t>
            </a:r>
            <a:r>
              <a:rPr lang="en-US" sz="1200"/>
              <a:t>Join Working Metrics screen via link is "http://goodjobs-dev.dynagility.us/onboarding?email=truyen.linh.3@yopmail.com&amp;token=M2ZuNjlhbDllamlu"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Create an account on Working Metrics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Create password is "12345678xx@X".</a:t>
            </a:r>
            <a:endParaRPr lang="en-US" sz="1200"/>
          </a:p>
          <a:p>
            <a:pPr marL="0" indent="0">
              <a:buNone/>
            </a:pP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III. Company User 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3" name="Content Placeholder 2" descr="user1st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3599180" y="3169285"/>
            <a:ext cx="3971925" cy="20478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III. Issues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Some time can't click on element 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09600" y="1525905"/>
            <a:ext cx="4920615" cy="42037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accent2">
                    <a:lumMod val="75000"/>
                  </a:schemeClr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a. Some time can't click on element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accent2">
                  <a:lumMod val="75000"/>
                </a:schemeClr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775335" y="2053590"/>
            <a:ext cx="58534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b="1">
                <a:solidFill>
                  <a:schemeClr val="accent2">
                    <a:lumMod val="50000"/>
                  </a:schemeClr>
                </a:solidFill>
              </a:rPr>
              <a:t>Reason: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Do click before element is presented</a:t>
            </a:r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775335" y="2855595"/>
            <a:ext cx="418084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b="1">
                <a:solidFill>
                  <a:schemeClr val="accent2">
                    <a:lumMod val="50000"/>
                  </a:schemeClr>
                </a:solidFill>
              </a:rPr>
              <a:t>Solution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: Wait element is presented and click</a:t>
            </a:r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9" name="Text Box 8"/>
          <p:cNvSpPr txBox="1"/>
          <p:nvPr/>
        </p:nvSpPr>
        <p:spPr>
          <a:xfrm>
            <a:off x="775335" y="3747135"/>
            <a:ext cx="1012571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>
                <a:solidFill>
                  <a:srgbClr val="0070C0"/>
                </a:solidFill>
              </a:rPr>
              <a:t>public void click_on_next_button() {</a:t>
            </a:r>
            <a:endParaRPr lang="en-US">
              <a:solidFill>
                <a:srgbClr val="0070C0"/>
              </a:solidFill>
            </a:endParaRPr>
          </a:p>
          <a:p>
            <a:r>
              <a:rPr lang="en-US">
                <a:solidFill>
                  <a:srgbClr val="0070C0"/>
                </a:solidFill>
              </a:rPr>
              <a:t>	//waitABit(2000);</a:t>
            </a:r>
            <a:endParaRPr lang="en-US">
              <a:solidFill>
                <a:srgbClr val="0070C0"/>
              </a:solidFill>
            </a:endParaRPr>
          </a:p>
          <a:p>
            <a:r>
              <a:rPr lang="en-US">
                <a:solidFill>
                  <a:srgbClr val="0070C0"/>
                </a:solidFill>
              </a:rPr>
              <a:t>	nextBtn.waitUntilPresent().click();</a:t>
            </a:r>
            <a:endParaRPr lang="en-US">
              <a:solidFill>
                <a:srgbClr val="0070C0"/>
              </a:solidFill>
            </a:endParaRPr>
          </a:p>
          <a:p>
            <a:r>
              <a:rPr lang="en-US">
                <a:solidFill>
                  <a:srgbClr val="0070C0"/>
                </a:solidFill>
              </a:rPr>
              <a:t>}</a:t>
            </a:r>
            <a:endParaRPr lang="en-US">
              <a:solidFill>
                <a:srgbClr val="0070C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III. Issues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Some time can't click on element 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09600" y="1525905"/>
            <a:ext cx="4920615" cy="42037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accent2">
                    <a:lumMod val="75000"/>
                  </a:schemeClr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b. Some time click on button isn't success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accent2">
                  <a:lumMod val="75000"/>
                </a:schemeClr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775335" y="2053590"/>
            <a:ext cx="58534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b="1">
                <a:solidFill>
                  <a:schemeClr val="accent2">
                    <a:lumMod val="50000"/>
                  </a:schemeClr>
                </a:solidFill>
              </a:rPr>
              <a:t>Reason: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Unknown, maybe Selenium isn't stable</a:t>
            </a:r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7" name="Content Placeholder 6" descr="manage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5885815" y="1029335"/>
            <a:ext cx="5015230" cy="2757170"/>
          </a:xfrm>
          <a:prstGeom prst="rect">
            <a:avLst/>
          </a:prstGeom>
        </p:spPr>
      </p:pic>
      <p:sp>
        <p:nvSpPr>
          <p:cNvPr id="8" name="Text Box 7"/>
          <p:cNvSpPr txBox="1"/>
          <p:nvPr/>
        </p:nvSpPr>
        <p:spPr>
          <a:xfrm>
            <a:off x="775335" y="4053840"/>
            <a:ext cx="418084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b="1">
                <a:solidFill>
                  <a:schemeClr val="accent2">
                    <a:lumMod val="50000"/>
                  </a:schemeClr>
                </a:solidFill>
              </a:rPr>
              <a:t>Solution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: Using Javascript to click on element</a:t>
            </a:r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9" name="Text Box 8"/>
          <p:cNvSpPr txBox="1"/>
          <p:nvPr/>
        </p:nvSpPr>
        <p:spPr>
          <a:xfrm>
            <a:off x="775335" y="4817745"/>
            <a:ext cx="1012571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>
                <a:solidFill>
                  <a:srgbClr val="0070C0"/>
                </a:solidFill>
              </a:rPr>
              <a:t>public void click_Manage_button() {</a:t>
            </a:r>
            <a:endParaRPr lang="en-US">
              <a:solidFill>
                <a:srgbClr val="0070C0"/>
              </a:solidFill>
            </a:endParaRPr>
          </a:p>
          <a:p>
            <a:r>
              <a:rPr lang="en-US">
                <a:solidFill>
                  <a:srgbClr val="0070C0"/>
                </a:solidFill>
              </a:rPr>
              <a:t>	JavascriptExecutor excutor = (JavascriptExecutor)getDriver();</a:t>
            </a:r>
            <a:endParaRPr lang="en-US">
              <a:solidFill>
                <a:srgbClr val="0070C0"/>
              </a:solidFill>
            </a:endParaRPr>
          </a:p>
          <a:p>
            <a:r>
              <a:rPr lang="en-US">
                <a:solidFill>
                  <a:srgbClr val="0070C0"/>
                </a:solidFill>
              </a:rPr>
              <a:t>	excutor.executeScript("arguments[0].click();", manageBtn);</a:t>
            </a:r>
            <a:endParaRPr lang="en-US">
              <a:solidFill>
                <a:srgbClr val="0070C0"/>
              </a:solidFill>
            </a:endParaRPr>
          </a:p>
          <a:p>
            <a:r>
              <a:rPr lang="en-US">
                <a:solidFill>
                  <a:srgbClr val="0070C0"/>
                </a:solidFill>
              </a:rPr>
              <a:t>}</a:t>
            </a:r>
            <a:endParaRPr lang="en-US">
              <a:solidFill>
                <a:srgbClr val="0070C0"/>
              </a:solidFill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09600" y="1512570"/>
            <a:ext cx="4920615" cy="42037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accent2">
                    <a:lumMod val="75000"/>
                  </a:schemeClr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b. Some time click on button isn't success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accent2">
                  <a:lumMod val="75000"/>
                </a:schemeClr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III. Issues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II. Get locator very hard 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3" name="Content Placeholder 2" descr="last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5193030" y="1570990"/>
            <a:ext cx="6389370" cy="2808605"/>
          </a:xfrm>
          <a:prstGeom prst="rect">
            <a:avLst/>
          </a:prstGeom>
        </p:spPr>
      </p:pic>
      <p:sp>
        <p:nvSpPr>
          <p:cNvPr id="6" name="Text Box 5"/>
          <p:cNvSpPr txBox="1"/>
          <p:nvPr/>
        </p:nvSpPr>
        <p:spPr>
          <a:xfrm>
            <a:off x="609600" y="1570990"/>
            <a:ext cx="431165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b="1">
                <a:solidFill>
                  <a:schemeClr val="accent2">
                    <a:lumMod val="50000"/>
                  </a:schemeClr>
                </a:solidFill>
              </a:rPr>
              <a:t>Reason: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Number of row is changed after add an user success.</a:t>
            </a:r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609600" y="4864735"/>
            <a:ext cx="41808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b="1">
                <a:solidFill>
                  <a:schemeClr val="accent2">
                    <a:lumMod val="50000"/>
                  </a:schemeClr>
                </a:solidFill>
              </a:rPr>
              <a:t>Solution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: Get last row.</a:t>
            </a:r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609600" y="5424805"/>
            <a:ext cx="7625715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>
                <a:solidFill>
                  <a:srgbClr val="0070C0"/>
                </a:solidFill>
              </a:rPr>
              <a:t>@FindBy(xpath="//*[@class='rt-tr-group'][last()]/div/div[1]/input")</a:t>
            </a:r>
            <a:endParaRPr lang="en-US">
              <a:solidFill>
                <a:srgbClr val="0070C0"/>
              </a:solidFill>
            </a:endParaRPr>
          </a:p>
          <a:p>
            <a:r>
              <a:rPr lang="en-US">
                <a:solidFill>
                  <a:srgbClr val="0070C0"/>
                </a:solidFill>
              </a:rPr>
              <a:t>private WebElementFacade firstnameField;</a:t>
            </a:r>
            <a:endParaRPr lang="en-US">
              <a:solidFill>
                <a:srgbClr val="0070C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III. Issues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III. Can't focus on element. 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609600" y="1570990"/>
            <a:ext cx="43116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b="1">
                <a:solidFill>
                  <a:schemeClr val="accent2">
                    <a:lumMod val="50000"/>
                  </a:schemeClr>
                </a:solidFill>
              </a:rPr>
              <a:t>Reason: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Element drop down list</a:t>
            </a:r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609600" y="2277745"/>
            <a:ext cx="41808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b="1">
                <a:solidFill>
                  <a:schemeClr val="accent2">
                    <a:lumMod val="50000"/>
                  </a:schemeClr>
                </a:solidFill>
              </a:rPr>
              <a:t>Solution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: Using Robot class. </a:t>
            </a:r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9" name="Content Placeholder 8" descr="drop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4458335" y="1939290"/>
            <a:ext cx="7124065" cy="2974340"/>
          </a:xfrm>
          <a:prstGeom prst="rect">
            <a:avLst/>
          </a:prstGeom>
        </p:spPr>
      </p:pic>
      <p:sp>
        <p:nvSpPr>
          <p:cNvPr id="13" name="Text Box 12"/>
          <p:cNvSpPr txBox="1"/>
          <p:nvPr/>
        </p:nvSpPr>
        <p:spPr>
          <a:xfrm>
            <a:off x="609600" y="2850515"/>
            <a:ext cx="4006850" cy="329184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600">
                <a:solidFill>
                  <a:srgbClr val="0070C0"/>
                </a:solidFill>
              </a:rPr>
              <a:t>Robot r;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try {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     r = new Robot();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     roleOption.click();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     waitABit(3000);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     r.keyPress(KeyEvent.VK_DOWN);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     r.keyRelease(KeyEvent.VK_DOWN);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     waitABit(3000);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     r.keyPress(KeyEvent.VK_ENTER);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     r.keyRelease(KeyEvent.VK_ENTER);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} catch (AWTException e) {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   e.printStackTrace();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}</a:t>
            </a:r>
            <a:endParaRPr lang="en-US" sz="1600">
              <a:solidFill>
                <a:srgbClr val="0070C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IV. Demo.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idx="1"/>
          </p:nvPr>
        </p:nvSpPr>
        <p:spPr>
          <a:xfrm>
            <a:off x="609600" y="1391920"/>
            <a:ext cx="10972800" cy="4873625"/>
          </a:xfrm>
        </p:spPr>
        <p:txBody>
          <a:bodyPr/>
          <a:p>
            <a:pPr marL="0" indent="0" algn="ctr">
              <a:lnSpc>
                <a:spcPct val="360000"/>
              </a:lnSpc>
              <a:buNone/>
            </a:pPr>
            <a:r>
              <a:rPr lang="en-US" sz="440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Run Demo</a:t>
            </a:r>
            <a:endParaRPr lang="en-US" sz="4400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250690" y="2829560"/>
            <a:ext cx="3689985" cy="11988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lstStyle/>
          <a:p>
            <a:pPr algn="ctr"/>
            <a:r>
              <a:rPr lang="en-US" altLang="zh-CN" sz="7200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Thanks!</a:t>
            </a:r>
            <a:endParaRPr lang="en-US" altLang="zh-CN" sz="7200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range Waves">
  <a:themeElements>
    <a:clrScheme name="Orange Waves 13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C73109"/>
      </a:accent1>
      <a:accent2>
        <a:srgbClr val="FF5050"/>
      </a:accent2>
      <a:accent3>
        <a:srgbClr val="FFFFFF"/>
      </a:accent3>
      <a:accent4>
        <a:srgbClr val="000000"/>
      </a:accent4>
      <a:accent5>
        <a:srgbClr val="E0ADAA"/>
      </a:accent5>
      <a:accent6>
        <a:srgbClr val="E74848"/>
      </a:accent6>
      <a:hlink>
        <a:srgbClr val="4D4D4D"/>
      </a:hlink>
      <a:folHlink>
        <a:srgbClr val="777777"/>
      </a:folHlink>
    </a:clrScheme>
    <a:fontScheme name="Orange Waves">
      <a:majorFont>
        <a:latin typeface="Arial"/>
        <a:ea typeface="SimSun"/>
        <a:cs typeface=""/>
      </a:majorFont>
      <a:minorFont>
        <a:latin typeface="Arial"/>
        <a:ea typeface="SimSu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lnDef>
  </a:objectDefaults>
  <a:extraClrSchemeLst>
    <a:extraClrScheme>
      <a:clrScheme name="Orange Wave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3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C73109"/>
        </a:accent1>
        <a:accent2>
          <a:srgbClr val="FF5050"/>
        </a:accent2>
        <a:accent3>
          <a:srgbClr val="FFFFFF"/>
        </a:accent3>
        <a:accent4>
          <a:srgbClr val="000000"/>
        </a:accent4>
        <a:accent5>
          <a:srgbClr val="E0ADAA"/>
        </a:accent5>
        <a:accent6>
          <a:srgbClr val="E74848"/>
        </a:accent6>
        <a:hlink>
          <a:srgbClr val="4D4D4D"/>
        </a:hlink>
        <a:folHlink>
          <a:srgbClr val="777777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6089</Words>
  <Application>WPS Presentation</Application>
  <PresentationFormat>Widescreen</PresentationFormat>
  <Paragraphs>216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4" baseType="lpstr">
      <vt:lpstr>Arial</vt:lpstr>
      <vt:lpstr>SimSun</vt:lpstr>
      <vt:lpstr>Wingdings</vt:lpstr>
      <vt:lpstr>Microsoft YaHei</vt:lpstr>
      <vt:lpstr/>
      <vt:lpstr>Arial Unicode MS</vt:lpstr>
      <vt:lpstr>Calibri</vt:lpstr>
      <vt:lpstr>Segoe Print</vt:lpstr>
      <vt:lpstr>Orange Waves</vt:lpstr>
      <vt:lpstr> Sharing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Sharing</dc:title>
  <dc:creator>kieuv</dc:creator>
  <cp:lastModifiedBy>kieuv</cp:lastModifiedBy>
  <cp:revision>141</cp:revision>
  <dcterms:created xsi:type="dcterms:W3CDTF">2017-12-03T10:52:00Z</dcterms:created>
  <dcterms:modified xsi:type="dcterms:W3CDTF">2018-03-26T16:22:46Z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1033-10.2.0.5965</vt:lpwstr>
  </property>
</Properties>
</file>