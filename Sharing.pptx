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3"/>
    <p:sldId id="257" r:id="rId4"/>
    <p:sldId id="278" r:id="rId5"/>
    <p:sldId id="292" r:id="rId6"/>
    <p:sldId id="293" r:id="rId7"/>
    <p:sldId id="294" r:id="rId8"/>
    <p:sldId id="296" r:id="rId9"/>
    <p:sldId id="297" r:id="rId10"/>
    <p:sldId id="298" r:id="rId11"/>
    <p:sldId id="299" r:id="rId12"/>
    <p:sldId id="300" r:id="rId13"/>
    <p:sldId id="302" r:id="rId14"/>
    <p:sldId id="304" r:id="rId15"/>
    <p:sldId id="305" r:id="rId16"/>
    <p:sldId id="307" r:id="rId17"/>
    <p:sldId id="308" r:id="rId18"/>
    <p:sldId id="315" r:id="rId19"/>
    <p:sldId id="309" r:id="rId20"/>
    <p:sldId id="281" r:id="rId21"/>
    <p:sldId id="262" r:id="rId22"/>
    <p:sldId id="311" r:id="rId23"/>
    <p:sldId id="264" r:id="rId24"/>
    <p:sldId id="277" r:id="rId25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120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notesMaster" Target="notesMasters/notesMaster1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mailto:admin@yopmail.com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795020"/>
            <a:ext cx="9144000" cy="923925"/>
          </a:xfrm>
        </p:spPr>
        <p:txBody>
          <a:bodyPr>
            <a:normAutofit/>
          </a:bodyPr>
          <a:lstStyle/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 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1579245"/>
            <a:ext cx="9271000" cy="1545590"/>
          </a:xfrm>
        </p:spPr>
        <p:txBody>
          <a:bodyPr/>
          <a:lstStyle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Automation Testing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271770" y="44227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 - QC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Tuong Minh Service Private Enterprise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900" y="1949450"/>
            <a:ext cx="10972800" cy="4953000"/>
          </a:xfrm>
        </p:spPr>
        <p:txBody>
          <a:bodyPr/>
          <a:lstStyle/>
          <a:p>
            <a:r>
              <a:rPr lang="en-US" sz="4400"/>
              <a:t>I.</a:t>
            </a:r>
            <a:r>
              <a:rPr lang="en-US"/>
              <a:t>	</a:t>
            </a:r>
            <a:endParaRPr lang="en-US"/>
          </a:p>
          <a:p>
            <a:r>
              <a:rPr lang="en-US" sz="4400"/>
              <a:t>II. </a:t>
            </a:r>
            <a:endParaRPr lang="en-US" sz="4400"/>
          </a:p>
          <a:p>
            <a:r>
              <a:rPr lang="en-US" sz="4400"/>
              <a:t>III.</a:t>
            </a:r>
            <a:endParaRPr lang="en-US" sz="4400"/>
          </a:p>
          <a:p>
            <a:r>
              <a:rPr lang="en-US" sz="4400"/>
              <a:t>IV.</a:t>
            </a:r>
            <a:endParaRPr lang="en-US" sz="4400"/>
          </a:p>
          <a:p>
            <a:pPr marL="0" indent="0">
              <a:buNone/>
            </a:pPr>
            <a:endParaRPr lang="en-US" sz="4400"/>
          </a:p>
        </p:txBody>
      </p:sp>
      <p:sp>
        <p:nvSpPr>
          <p:cNvPr id="4" name="Rounded Rectangle 3"/>
          <p:cNvSpPr/>
          <p:nvPr/>
        </p:nvSpPr>
        <p:spPr>
          <a:xfrm>
            <a:off x="1800225" y="194945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What is BDD</a:t>
            </a: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751965" y="281813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Cucumber - Gherkin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Testing funct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752600" y="194945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Test function by MANUAL.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752600" y="3649345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Test function by AUTOMATION.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751965" y="4455795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Demo &amp; Report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Test function by MANUAL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596900" y="1339850"/>
            <a:ext cx="1082040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Example: </a:t>
            </a:r>
            <a:r>
              <a:rPr lang="en-US" dirty="0" smtClean="0"/>
              <a:t>Update User Profile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705610"/>
            <a:ext cx="8262937" cy="38643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Test function by MANUAL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609600" y="1378585"/>
            <a:ext cx="9816465" cy="4480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b="1" dirty="0" smtClean="0">
                <a:sym typeface="+mn-ea"/>
              </a:rPr>
              <a:t>Precondition</a:t>
            </a:r>
            <a:endParaRPr lang="en-US" b="1" dirty="0" smtClean="0">
              <a:sym typeface="+mn-ea"/>
            </a:endParaRPr>
          </a:p>
          <a:p>
            <a:pPr marL="0" indent="0">
              <a:buNone/>
            </a:pPr>
            <a:r>
              <a:rPr lang="en-US" dirty="0" smtClean="0">
                <a:sym typeface="+mn-ea"/>
              </a:rPr>
              <a:t> 	Logged in successfully using truyen.kieu.12</a:t>
            </a:r>
            <a:r>
              <a:rPr lang="en-US" dirty="0" smtClean="0">
                <a:sym typeface="+mn-ea"/>
                <a:hlinkClick r:id="rId1"/>
              </a:rPr>
              <a:t>@yopmail.com</a:t>
            </a:r>
            <a:r>
              <a:rPr lang="en-US" dirty="0" smtClean="0">
                <a:sym typeface="+mn-ea"/>
              </a:rPr>
              <a:t> account</a:t>
            </a:r>
            <a:endParaRPr lang="en-US" dirty="0" smtClean="0"/>
          </a:p>
          <a:p>
            <a:pPr marL="0" indent="0">
              <a:buNone/>
            </a:pPr>
            <a:r>
              <a:rPr lang="en-US" b="1" dirty="0" smtClean="0">
                <a:sym typeface="+mn-ea"/>
              </a:rPr>
              <a:t>Steps</a:t>
            </a:r>
            <a:endParaRPr lang="en-US" b="1" dirty="0" smtClean="0">
              <a:sym typeface="+mn-ea"/>
            </a:endParaRPr>
          </a:p>
          <a:p>
            <a:pPr marL="514350" indent="-514350" algn="l">
              <a:buAutoNum type="arabicPeriod"/>
            </a:pPr>
            <a:r>
              <a:rPr lang="en-US" dirty="0" smtClean="0">
                <a:sym typeface="+mn-ea"/>
              </a:rPr>
              <a:t>Click User menu</a:t>
            </a:r>
            <a:endParaRPr lang="en-US" dirty="0" smtClean="0">
              <a:sym typeface="+mn-ea"/>
            </a:endParaRPr>
          </a:p>
          <a:p>
            <a:pPr marL="514350" indent="-514350" algn="l">
              <a:buAutoNum type="arabicPeriod"/>
            </a:pPr>
            <a:r>
              <a:rPr lang="en-US" dirty="0" smtClean="0">
                <a:sym typeface="+mn-ea"/>
              </a:rPr>
              <a:t>Click User profile link</a:t>
            </a:r>
            <a:endParaRPr lang="en-US" dirty="0" smtClean="0">
              <a:sym typeface="+mn-ea"/>
            </a:endParaRPr>
          </a:p>
          <a:p>
            <a:pPr marL="514350" indent="-514350" algn="l">
              <a:buAutoNum type="arabicPeriod"/>
            </a:pPr>
            <a:r>
              <a:rPr lang="en-US" dirty="0" smtClean="0">
                <a:sym typeface="+mn-ea"/>
              </a:rPr>
              <a:t>Update First Name, Last Name.</a:t>
            </a:r>
            <a:endParaRPr lang="en-US" dirty="0" smtClean="0"/>
          </a:p>
          <a:p>
            <a:pPr marL="514350" indent="-514350" algn="l">
              <a:buAutoNum type="arabicPeriod"/>
            </a:pPr>
            <a:r>
              <a:rPr lang="en-US" dirty="0" smtClean="0">
                <a:sym typeface="+mn-ea"/>
              </a:rPr>
              <a:t>Click on Save button</a:t>
            </a:r>
            <a:endParaRPr lang="en-US" dirty="0" smtClean="0">
              <a:sym typeface="+mn-ea"/>
            </a:endParaRPr>
          </a:p>
          <a:p>
            <a:pPr indent="0" algn="l">
              <a:buNone/>
            </a:pPr>
            <a:endParaRPr lang="en-US" dirty="0"/>
          </a:p>
          <a:p>
            <a:pPr marL="0" indent="0" algn="l">
              <a:buNone/>
            </a:pPr>
            <a:r>
              <a:rPr lang="en-US" b="1" dirty="0" smtClean="0">
                <a:sym typeface="+mn-ea"/>
              </a:rPr>
              <a:t>Expected</a:t>
            </a:r>
            <a:endParaRPr lang="en-US" b="1" dirty="0" smtClean="0">
              <a:sym typeface="+mn-ea"/>
            </a:endParaRPr>
          </a:p>
          <a:p>
            <a:pPr marL="0" indent="0" algn="l">
              <a:buNone/>
            </a:pPr>
            <a:r>
              <a:rPr lang="en-US" dirty="0" smtClean="0">
                <a:sym typeface="+mn-ea"/>
              </a:rPr>
              <a:t>5.1   System navigates to Manage </a:t>
            </a:r>
            <a:endParaRPr lang="en-US" dirty="0" smtClean="0">
              <a:sym typeface="+mn-ea"/>
            </a:endParaRPr>
          </a:p>
          <a:p>
            <a:pPr marL="0" indent="0" algn="l">
              <a:buNone/>
            </a:pPr>
            <a:r>
              <a:rPr lang="en-US" dirty="0" smtClean="0">
                <a:sym typeface="+mn-ea"/>
              </a:rPr>
              <a:t>System Administrators page.</a:t>
            </a:r>
            <a:endParaRPr lang="en-US" dirty="0" smtClean="0">
              <a:sym typeface="+mn-ea"/>
            </a:endParaRPr>
          </a:p>
          <a:p>
            <a:pPr marL="0" indent="0" algn="l">
              <a:buNone/>
            </a:pPr>
            <a:r>
              <a:rPr lang="en-US" dirty="0" smtClean="0">
                <a:sym typeface="+mn-ea"/>
              </a:rPr>
              <a:t>5.2   Email is shown on screen.</a:t>
            </a:r>
            <a:endParaRPr lang="en-US" dirty="0" smtClean="0">
              <a:sym typeface="+mn-ea"/>
            </a:endParaRPr>
          </a:p>
          <a:p>
            <a:pPr marL="0" indent="0" algn="l">
              <a:buNone/>
            </a:pPr>
            <a:r>
              <a:rPr lang="en-US" dirty="0" smtClean="0">
                <a:sym typeface="+mn-ea"/>
              </a:rPr>
              <a:t>5.3   Full Name is updated correctly.</a:t>
            </a:r>
            <a:endParaRPr lang="en-US" dirty="0" smtClean="0">
              <a:sym typeface="+mn-ea"/>
            </a:endParaRPr>
          </a:p>
          <a:p>
            <a:pPr indent="0">
              <a:buNone/>
            </a:pPr>
            <a:endParaRPr lang="en-US"/>
          </a:p>
          <a:p>
            <a:pPr indent="0">
              <a:buNone/>
            </a:pPr>
            <a:endParaRPr lang="en-US"/>
          </a:p>
          <a:p>
            <a:pPr indent="0">
              <a:buNone/>
            </a:pP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12014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1. Cucumber.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446905" y="1804670"/>
            <a:ext cx="7158355" cy="393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/>
              <a:t>A cucumber is a tool based on Behavior Driven Development (BDD) framework which is used to write acceptance tests for the web application.</a:t>
            </a:r>
            <a:endParaRPr lang="en-US" sz="2800"/>
          </a:p>
          <a:p>
            <a:endParaRPr lang="en-US" sz="2800"/>
          </a:p>
          <a:p>
            <a:r>
              <a:rPr lang="en-US" sz="2800"/>
              <a:t>It lets us define application behavior in plain meaningful English text using a simple grammar defined by a language called Gherkin. </a:t>
            </a:r>
            <a:endParaRPr lang="en-US" sz="2800"/>
          </a:p>
        </p:txBody>
      </p:sp>
      <p:pic>
        <p:nvPicPr>
          <p:cNvPr id="7" name="Content Placeholder 6" descr="download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09600" y="1804670"/>
            <a:ext cx="3693795" cy="1576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12014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2. Gherkin - Definition 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619760" y="1746885"/>
            <a:ext cx="10960735" cy="3505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/>
              <a:t>-	Gherkin is plain-text language with a little extra structure.</a:t>
            </a:r>
            <a:endParaRPr lang="en-US" sz="3200"/>
          </a:p>
          <a:p>
            <a:r>
              <a:rPr lang="en-US" sz="3200"/>
              <a:t>- 	Gherkin is designed to be easy to learn by non-programmers</a:t>
            </a:r>
            <a:endParaRPr lang="en-US" sz="3200"/>
          </a:p>
          <a:p>
            <a:r>
              <a:rPr lang="en-US" sz="3200"/>
              <a:t>-	Yet structured enough to allow concise description of examples to illustrate business rules in most real-world domains.</a:t>
            </a:r>
            <a:endParaRPr lang="en-US" sz="3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12014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2. Gherkin - Elements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79755" y="1757045"/>
            <a:ext cx="11030585" cy="3749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Feature:</a:t>
            </a:r>
            <a:r>
              <a:rPr lang="en-US" sz="2400" dirty="0"/>
              <a:t> Some terse yet descriptive text of what is desired starts the feature and gives it a title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>
                <a:solidFill>
                  <a:srgbClr val="92D050"/>
                </a:solidFill>
              </a:rPr>
              <a:t>Scenario:</a:t>
            </a:r>
            <a:r>
              <a:rPr lang="en-US" sz="2400" dirty="0"/>
              <a:t> Some determinable business situation starts the scenario, and contains a description of the scenario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>
                <a:solidFill>
                  <a:srgbClr val="00B0F0"/>
                </a:solidFill>
              </a:rPr>
              <a:t>Given</a:t>
            </a:r>
            <a:r>
              <a:rPr lang="en-US" sz="2400" dirty="0"/>
              <a:t> steps is to put the system in a known state before the user (or external system) starts interacting with the system</a:t>
            </a:r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12014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2. Gherkin - Elements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79755" y="1757045"/>
            <a:ext cx="11030585" cy="33832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00B0F0"/>
                </a:solidFill>
              </a:rPr>
              <a:t>When </a:t>
            </a:r>
            <a:r>
              <a:rPr lang="en-US" sz="2400">
                <a:solidFill>
                  <a:schemeClr val="tx1"/>
                </a:solidFill>
              </a:rPr>
              <a:t>steps is to describe the key action the user performs</a:t>
            </a:r>
            <a:endParaRPr lang="en-US" sz="2400">
              <a:solidFill>
                <a:schemeClr val="tx1"/>
              </a:solidFill>
            </a:endParaRPr>
          </a:p>
          <a:p>
            <a:endParaRPr lang="en-US" sz="2400">
              <a:solidFill>
                <a:schemeClr val="tx1"/>
              </a:solidFill>
            </a:endParaRPr>
          </a:p>
          <a:p>
            <a:r>
              <a:rPr lang="en-US" sz="2400">
                <a:solidFill>
                  <a:srgbClr val="00B0F0"/>
                </a:solidFill>
              </a:rPr>
              <a:t>Then </a:t>
            </a:r>
            <a:r>
              <a:rPr lang="en-US" sz="2400">
                <a:solidFill>
                  <a:schemeClr val="tx1"/>
                </a:solidFill>
              </a:rPr>
              <a:t>steps is to observe outcomes. The observations should be related to the business value/benefit in your feature description. The observations should inspect the output of the system (a report, user interface, message, command output)</a:t>
            </a:r>
            <a:endParaRPr lang="en-US" sz="2400">
              <a:solidFill>
                <a:schemeClr val="tx1"/>
              </a:solidFill>
            </a:endParaRPr>
          </a:p>
          <a:p>
            <a:endParaRPr lang="en-US" sz="2400">
              <a:solidFill>
                <a:schemeClr val="tx1"/>
              </a:solidFill>
            </a:endParaRPr>
          </a:p>
          <a:p>
            <a:r>
              <a:rPr lang="en-US" sz="2400">
                <a:solidFill>
                  <a:srgbClr val="00B0F0"/>
                </a:solidFill>
              </a:rPr>
              <a:t>And, But </a:t>
            </a:r>
            <a:r>
              <a:rPr lang="en-US" sz="2400">
                <a:solidFill>
                  <a:schemeClr val="tx1"/>
                </a:solidFill>
              </a:rPr>
              <a:t>is writed if your scenario have several Given, When or Then steps, allowing your Scenario to read more fluently</a:t>
            </a:r>
            <a:endParaRPr lang="en-US" sz="24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9600" y="112014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2. Gherkin - Elements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79755" y="1757045"/>
            <a:ext cx="11030585" cy="2651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tx1"/>
                </a:solidFill>
              </a:rPr>
              <a:t>Background: ...</a:t>
            </a:r>
            <a:endParaRPr lang="en-US" sz="2400">
              <a:solidFill>
                <a:schemeClr val="tx1"/>
              </a:solidFill>
            </a:endParaRPr>
          </a:p>
          <a:p>
            <a:endParaRPr lang="en-US" sz="2400">
              <a:solidFill>
                <a:schemeClr val="tx1"/>
              </a:solidFill>
            </a:endParaRPr>
          </a:p>
          <a:p>
            <a:r>
              <a:rPr lang="en-US" sz="2400">
                <a:solidFill>
                  <a:schemeClr val="tx1"/>
                </a:solidFill>
              </a:rPr>
              <a:t>Scenario Outline:...</a:t>
            </a:r>
            <a:endParaRPr lang="en-US" sz="2400">
              <a:solidFill>
                <a:schemeClr val="tx1"/>
              </a:solidFill>
            </a:endParaRPr>
          </a:p>
          <a:p>
            <a:endParaRPr lang="en-US" sz="2400">
              <a:solidFill>
                <a:schemeClr val="tx1"/>
              </a:solidFill>
            </a:endParaRPr>
          </a:p>
          <a:p>
            <a:r>
              <a:rPr lang="en-US" sz="2400">
                <a:solidFill>
                  <a:schemeClr val="tx1"/>
                </a:solidFill>
              </a:rPr>
              <a:t>Tables:</a:t>
            </a:r>
            <a:endParaRPr lang="en-US" sz="2400">
              <a:solidFill>
                <a:schemeClr val="tx1"/>
              </a:solidFill>
            </a:endParaRPr>
          </a:p>
          <a:p>
            <a:endParaRPr lang="en-US" sz="2400">
              <a:solidFill>
                <a:schemeClr val="tx1"/>
              </a:solidFill>
            </a:endParaRPr>
          </a:p>
          <a:p>
            <a:r>
              <a:rPr lang="en-US" sz="2400">
                <a:solidFill>
                  <a:schemeClr val="tx1"/>
                </a:solidFill>
              </a:rPr>
              <a:t>Tabs:....</a:t>
            </a:r>
            <a:endParaRPr lang="en-US" sz="24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7695" y="1694815"/>
            <a:ext cx="4485005" cy="441452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indent="0" algn="l">
              <a:buNone/>
            </a:pPr>
            <a:endParaRPr lang="en-US" sz="1600" b="1" dirty="0" smtClean="0">
              <a:sym typeface="+mn-ea"/>
            </a:endParaRPr>
          </a:p>
          <a:p>
            <a:pPr marL="0" indent="0" algn="l">
              <a:buNone/>
            </a:pPr>
            <a:endParaRPr lang="en-US" sz="1600" b="1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b="1" dirty="0" smtClean="0">
                <a:sym typeface="+mn-ea"/>
              </a:rPr>
              <a:t>Precondition</a:t>
            </a:r>
            <a:endParaRPr lang="en-US" sz="1600" b="1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dirty="0" smtClean="0">
                <a:sym typeface="+mn-ea"/>
              </a:rPr>
              <a:t> Logged in successfully using </a:t>
            </a:r>
            <a:endParaRPr lang="en-US" sz="1600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dirty="0" smtClean="0">
                <a:sym typeface="+mn-ea"/>
              </a:rPr>
              <a:t>truyen.kieu.12@yopmail.com account</a:t>
            </a:r>
            <a:endParaRPr lang="en-US" sz="1600" dirty="0" smtClean="0"/>
          </a:p>
          <a:p>
            <a:pPr marL="0" indent="0" algn="l">
              <a:buNone/>
            </a:pPr>
            <a:r>
              <a:rPr lang="en-US" sz="1600" b="1" dirty="0" smtClean="0">
                <a:sym typeface="+mn-ea"/>
              </a:rPr>
              <a:t>Steps</a:t>
            </a:r>
            <a:endParaRPr lang="en-US" sz="1600" b="1" dirty="0" smtClean="0">
              <a:sym typeface="+mn-ea"/>
            </a:endParaRPr>
          </a:p>
          <a:p>
            <a:pPr marL="514350" indent="-514350" algn="l">
              <a:buAutoNum type="arabicPeriod"/>
            </a:pPr>
            <a:r>
              <a:rPr lang="en-US" sz="1600" dirty="0" smtClean="0">
                <a:sym typeface="+mn-ea"/>
              </a:rPr>
              <a:t>Click User menu</a:t>
            </a:r>
            <a:endParaRPr lang="en-US" sz="1600" dirty="0" smtClean="0">
              <a:sym typeface="+mn-ea"/>
            </a:endParaRPr>
          </a:p>
          <a:p>
            <a:pPr marL="514350" indent="-514350" algn="l">
              <a:buAutoNum type="arabicPeriod"/>
            </a:pPr>
            <a:r>
              <a:rPr lang="en-US" sz="1600" dirty="0" smtClean="0">
                <a:sym typeface="+mn-ea"/>
              </a:rPr>
              <a:t>Click User profile link</a:t>
            </a:r>
            <a:endParaRPr lang="en-US" sz="1600" dirty="0" smtClean="0">
              <a:sym typeface="+mn-ea"/>
            </a:endParaRPr>
          </a:p>
          <a:p>
            <a:pPr marL="514350" indent="-514350" algn="l">
              <a:buAutoNum type="arabicPeriod"/>
            </a:pPr>
            <a:r>
              <a:rPr lang="en-US" sz="1600" dirty="0" smtClean="0">
                <a:sym typeface="+mn-ea"/>
              </a:rPr>
              <a:t>Update First Name, Last Name.</a:t>
            </a:r>
            <a:endParaRPr lang="en-US" sz="1600" dirty="0" smtClean="0"/>
          </a:p>
          <a:p>
            <a:pPr marL="514350" indent="-514350" algn="l">
              <a:buAutoNum type="arabicPeriod"/>
            </a:pPr>
            <a:r>
              <a:rPr lang="en-US" sz="1600" dirty="0" smtClean="0">
                <a:sym typeface="+mn-ea"/>
              </a:rPr>
              <a:t>Click on Save button</a:t>
            </a:r>
            <a:endParaRPr lang="en-US" sz="1600" dirty="0" smtClean="0">
              <a:sym typeface="+mn-ea"/>
            </a:endParaRPr>
          </a:p>
          <a:p>
            <a:pPr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 smtClean="0">
                <a:sym typeface="+mn-ea"/>
              </a:rPr>
              <a:t>Expected</a:t>
            </a:r>
            <a:endParaRPr lang="en-US" sz="1600" b="1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dirty="0" smtClean="0">
                <a:sym typeface="+mn-ea"/>
              </a:rPr>
              <a:t>5.1   System navigates to Manage </a:t>
            </a:r>
            <a:endParaRPr lang="en-US" sz="1600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dirty="0" smtClean="0">
                <a:sym typeface="+mn-ea"/>
              </a:rPr>
              <a:t>System Administrators page.</a:t>
            </a:r>
            <a:endParaRPr lang="en-US" sz="1600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dirty="0" smtClean="0">
                <a:sym typeface="+mn-ea"/>
              </a:rPr>
              <a:t>5.2   Email is shown on screen.</a:t>
            </a:r>
            <a:endParaRPr lang="en-US" sz="1600" dirty="0" smtClean="0">
              <a:sym typeface="+mn-ea"/>
            </a:endParaRPr>
          </a:p>
          <a:p>
            <a:pPr marL="0" indent="0" algn="l">
              <a:buNone/>
            </a:pPr>
            <a:r>
              <a:rPr lang="en-US" sz="1600" dirty="0" smtClean="0">
                <a:sym typeface="+mn-ea"/>
              </a:rPr>
              <a:t>5.3   Full Name is updated correctly.</a:t>
            </a:r>
            <a:endParaRPr lang="en-US" sz="1600" dirty="0"/>
          </a:p>
          <a:p>
            <a:pPr indent="0" algn="l">
              <a:buNone/>
            </a:pPr>
            <a:endParaRPr lang="en-US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718175" y="1694815"/>
            <a:ext cx="5864225" cy="398208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 smtClean="0">
                <a:ln>
                  <a:noFill/>
                </a:ln>
                <a:solidFill>
                  <a:srgbClr val="92D05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Scenario</a:t>
            </a:r>
            <a:r>
              <a:rPr lang="zh-CN" altLang="en-US" sz="1600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: </a:t>
            </a:r>
            <a:r>
              <a:rPr lang="en-US" altLang="zh-CN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Update User Profile</a:t>
            </a:r>
            <a:endParaRPr kumimoji="0" lang="zh-CN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Given</a:t>
            </a:r>
            <a:r>
              <a:rPr lang="zh-CN" altLang="en-US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The user login site by "truyen.kieu.12@yopmail.com" </a:t>
            </a:r>
            <a:endParaRPr lang="zh-CN" altLang="en-US" sz="160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          and "Cdbently2408^" successfully</a:t>
            </a:r>
            <a:endParaRPr lang="zh-CN" altLang="en-US" sz="160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When</a:t>
            </a:r>
            <a:r>
              <a:rPr lang="zh-CN" altLang="en-US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User menu.</a:t>
            </a:r>
            <a:endParaRPr kumimoji="0" lang="zh-CN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And</a:t>
            </a:r>
            <a:r>
              <a:rPr lang="zh-CN" altLang="en-US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User profile link</a:t>
            </a:r>
            <a:endParaRPr lang="zh-CN" altLang="en-US" sz="160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And</a:t>
            </a:r>
            <a:r>
              <a:rPr lang="zh-CN" altLang="en-US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Update First Name is "Truyen", Last Name is "Kieu"</a:t>
            </a:r>
            <a:endParaRPr kumimoji="0" lang="zh-CN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And</a:t>
            </a:r>
            <a:r>
              <a:rPr lang="zh-CN" altLang="en-US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on Save button</a:t>
            </a:r>
            <a:endParaRPr kumimoji="0" lang="zh-CN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Then</a:t>
            </a:r>
            <a:r>
              <a:rPr lang="zh-CN" altLang="en-US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System navigate</a:t>
            </a:r>
            <a:r>
              <a:rPr lang="en-US" altLang="zh-CN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s</a:t>
            </a:r>
            <a:r>
              <a:rPr lang="zh-CN" altLang="en-US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to "Manage System Administrators"</a:t>
            </a:r>
            <a:endParaRPr lang="zh-CN" altLang="en-US" sz="160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         </a:t>
            </a:r>
            <a:r>
              <a:rPr lang="en-US" altLang="zh-CN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page</a:t>
            </a:r>
            <a:endParaRPr kumimoji="0" lang="zh-CN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</a:t>
            </a:r>
            <a:r>
              <a:rPr lang="en-US" altLang="zh-CN" sz="1600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 </a:t>
            </a:r>
            <a:r>
              <a:rPr lang="en-US" altLang="zh-CN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"truyen.kieu.12@yopmail.com" should be shown on</a:t>
            </a:r>
            <a:endParaRPr lang="en-US" altLang="zh-CN" sz="160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        screen.</a:t>
            </a:r>
            <a:endParaRPr lang="en-US" altLang="zh-CN" sz="160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</a:t>
            </a:r>
            <a:r>
              <a:rPr lang="en-US" altLang="zh-CN" sz="1600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en-US" altLang="zh-CN" sz="160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"Truyen Kieu" Shows correctly be shown on screen.</a:t>
            </a:r>
            <a:endParaRPr lang="en-US" altLang="zh-CN" sz="160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5120005" y="3428365"/>
            <a:ext cx="568960" cy="379730"/>
          </a:xfrm>
          <a:prstGeom prst="right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2300" y="1965325"/>
            <a:ext cx="11000105" cy="362966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dirty="0" smtClean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dirty="0" smtClean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Given</a:t>
            </a:r>
            <a:r>
              <a:rPr lang="zh-CN" altLang="en-US" dirty="0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</a:t>
            </a:r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Login by using </a:t>
            </a:r>
            <a:r>
              <a:rPr lang="zh-CN" altLang="en-US" dirty="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"admin@yopmail.com" successfully</a:t>
            </a:r>
            <a:endParaRPr lang="zh-CN" altLang="en-US" dirty="0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dirty="0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dirty="0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ym typeface="+mn-ea"/>
              </a:rPr>
              <a:t>@Given</a:t>
            </a:r>
            <a:r>
              <a:rPr lang="en-US" dirty="0" smtClean="0">
                <a:sym typeface="+mn-ea"/>
              </a:rPr>
              <a:t>("^</a:t>
            </a:r>
            <a:r>
              <a:rPr lang="en-US" altLang="zh-CN" dirty="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Login by using </a:t>
            </a:r>
            <a:r>
              <a:rPr lang="en-US" dirty="0" smtClean="0">
                <a:sym typeface="+mn-ea"/>
              </a:rPr>
              <a:t>\"([^\"]*)\" successfully</a:t>
            </a:r>
            <a:r>
              <a:rPr lang="en-US" dirty="0">
                <a:sym typeface="+mn-ea"/>
              </a:rPr>
              <a:t>$")</a:t>
            </a:r>
            <a:endParaRPr lang="en-US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>
                <a:sym typeface="+mn-ea"/>
              </a:rPr>
              <a:t>public void </a:t>
            </a:r>
            <a:r>
              <a:rPr lang="en-US" dirty="0" err="1">
                <a:sym typeface="+mn-ea"/>
              </a:rPr>
              <a:t>the_user_login_site_by_and_successfully</a:t>
            </a:r>
            <a:r>
              <a:rPr lang="en-US" dirty="0">
                <a:sym typeface="+mn-ea"/>
              </a:rPr>
              <a:t>(String email, String password) throws Exception {</a:t>
            </a:r>
            <a:endParaRPr lang="en-US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>
                <a:sym typeface="+mn-ea"/>
              </a:rPr>
              <a:t>	</a:t>
            </a:r>
            <a:r>
              <a:rPr lang="en-US" dirty="0" err="1">
                <a:sym typeface="+mn-ea"/>
              </a:rPr>
              <a:t>loginStep.open_login_page</a:t>
            </a:r>
            <a:r>
              <a:rPr lang="en-US" dirty="0">
                <a:sym typeface="+mn-ea"/>
              </a:rPr>
              <a:t>();</a:t>
            </a:r>
            <a:endParaRPr lang="en-US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>
                <a:sym typeface="+mn-ea"/>
              </a:rPr>
              <a:t>	</a:t>
            </a:r>
            <a:r>
              <a:rPr lang="en-US" dirty="0" err="1">
                <a:sym typeface="+mn-ea"/>
              </a:rPr>
              <a:t>loginStep.input_email</a:t>
            </a:r>
            <a:r>
              <a:rPr lang="en-US" dirty="0">
                <a:sym typeface="+mn-ea"/>
              </a:rPr>
              <a:t>(email);</a:t>
            </a:r>
            <a:endParaRPr lang="en-US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>
                <a:sym typeface="+mn-ea"/>
              </a:rPr>
              <a:t>	</a:t>
            </a:r>
            <a:r>
              <a:rPr lang="en-US" dirty="0" err="1">
                <a:sym typeface="+mn-ea"/>
              </a:rPr>
              <a:t>loginStep.input_password</a:t>
            </a:r>
            <a:r>
              <a:rPr lang="en-US" dirty="0">
                <a:sym typeface="+mn-ea"/>
              </a:rPr>
              <a:t>(password);</a:t>
            </a:r>
            <a:endParaRPr lang="en-US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>
                <a:sym typeface="+mn-ea"/>
              </a:rPr>
              <a:t>	</a:t>
            </a:r>
            <a:r>
              <a:rPr lang="en-US" dirty="0" err="1">
                <a:sym typeface="+mn-ea"/>
              </a:rPr>
              <a:t>loginStep.click_Login_button</a:t>
            </a:r>
            <a:r>
              <a:rPr lang="en-US" dirty="0">
                <a:sym typeface="+mn-ea"/>
              </a:rPr>
              <a:t>();</a:t>
            </a:r>
            <a:endParaRPr lang="en-US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>
                <a:sym typeface="+mn-ea"/>
              </a:rPr>
              <a:t>		</a:t>
            </a:r>
            <a:endParaRPr lang="en-US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dirty="0">
                <a:sym typeface="+mn-ea"/>
              </a:rPr>
              <a:t>}</a:t>
            </a:r>
            <a:endParaRPr lang="en-US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en-US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Down Arrow 10"/>
          <p:cNvSpPr/>
          <p:nvPr/>
        </p:nvSpPr>
        <p:spPr>
          <a:xfrm>
            <a:off x="5011420" y="2561590"/>
            <a:ext cx="908050" cy="52832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60096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When</a:t>
            </a: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</a:t>
            </a:r>
            <a:r>
              <a:rPr lang="en-US" altLang="zh-CN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k</a:t>
            </a: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</a:t>
            </a:r>
            <a:r>
              <a:rPr lang="en-US" altLang="zh-CN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User</a:t>
            </a: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menu.</a:t>
            </a: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@When("^Click User menu$")</a:t>
            </a: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public void click_User_menu() throws Exception {</a:t>
            </a: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	</a:t>
            </a: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homeStep.click_on_user_menu();</a:t>
            </a: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}</a:t>
            </a:r>
            <a:endParaRPr lang="zh-CN" altLang="en-US" smtClean="0">
              <a:ln>
                <a:noFill/>
              </a:ln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3237230" y="2710815"/>
            <a:ext cx="907415" cy="59563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60096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zh-CN" altLang="en-US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</a:t>
            </a:r>
            <a:r>
              <a:rPr lang="en-US" altLang="zh-CN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User profile link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@When("^Click User profile link$")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click_User_profile_link() throws Exception {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homeStep.click_on_user_profile_link();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3237230" y="2710815"/>
            <a:ext cx="907415" cy="59563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93243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zh-CN" altLang="en-US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</a:t>
            </a:r>
            <a:r>
              <a:rPr lang="zh-CN" altLang="en-US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Update First Name is "Truyen", Last Name is "Kieu"</a:t>
            </a:r>
            <a:endParaRPr lang="zh-CN" altLang="en-US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@When("^Update First Name is \"([^\"]*)\", Last Name is \"([^\"]*)\"$")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update_First_Name_is_Last_Name_is(String firstName, String lastName) throws Exception {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manageUserProfileStep.input_FistName(firstName);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manageUserProfileStep.input_LastName(lastName);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3237230" y="2710815"/>
            <a:ext cx="907415" cy="59563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88607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And</a:t>
            </a:r>
            <a:r>
              <a:rPr lang="zh-CN" altLang="en-US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Click on Save button</a:t>
            </a:r>
            <a:endParaRPr kumimoji="0" lang="zh-CN" altLang="en-US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@When("^Click on Save button$")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click_on_Save_button() throws Exception {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manageUserProfileStep.click_On_Save_Button();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1936750" y="2806065"/>
            <a:ext cx="907415" cy="59563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6689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dirty="0" smtClean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Then</a:t>
            </a:r>
            <a:r>
              <a:rPr lang="zh-CN" altLang="en-US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System navigate</a:t>
            </a:r>
            <a:r>
              <a:rPr lang="en-US" altLang="zh-CN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s</a:t>
            </a:r>
            <a:r>
              <a:rPr lang="zh-CN" altLang="en-US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to  "Manage System Administrators" </a:t>
            </a:r>
            <a:r>
              <a:rPr lang="en-US" altLang="zh-CN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page</a:t>
            </a:r>
            <a:r>
              <a:rPr lang="zh-CN" altLang="en-US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.</a:t>
            </a:r>
            <a:endParaRPr kumimoji="0" lang="zh-CN" altLang="en-US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@Then("^System should navigate to \"([^\"]*)\" screen\\.$")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system_should_navigate_to_screen(String systemAdminTitle) throws Exception {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Assert.assertEquals(userManageStep.get_sysAdminTitle(), systemAdminTitle);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4375150" y="2737485"/>
            <a:ext cx="907415" cy="68961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6689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lang="zh-CN" altLang="en-US" dirty="0" smtClean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Then</a:t>
            </a:r>
            <a:r>
              <a:rPr lang="zh-CN" altLang="en-US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</a:t>
            </a:r>
            <a:r>
              <a:rPr lang="en-US" altLang="zh-CN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"truyen.kieu.12@yopmail.com" should be shown on</a:t>
            </a:r>
            <a:endParaRPr lang="en-US" altLang="zh-CN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        screen.</a:t>
            </a:r>
            <a:endParaRPr lang="zh-CN" altLang="en-US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@Then("^\"([^\"]*)\" should be shown on screen\\.$")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email_should_be_shown_on_screen(String email) throws Exception {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Assert.assertEquals(userManageStep.get_Email_Is_Shown(email), true);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4366895" y="2465705"/>
            <a:ext cx="907415" cy="68961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II. Cucumber - Gherkin.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08330" y="1149350"/>
            <a:ext cx="10972800" cy="4337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3. Gherkin - Generating Steps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22300" y="2073910"/>
            <a:ext cx="10918825" cy="2668905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A</a:t>
            </a:r>
            <a:r>
              <a:rPr lang="zh-CN" altLang="en-US" dirty="0" smtClean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nd</a:t>
            </a:r>
            <a:r>
              <a:rPr lang="zh-CN" altLang="en-US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 </a:t>
            </a:r>
            <a:r>
              <a:rPr lang="en-US" altLang="zh-CN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"Truyen Kieu" Shows correctly be shown on screen.</a:t>
            </a:r>
            <a:endParaRPr lang="zh-CN" altLang="en-US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@Then(“</a:t>
            </a:r>
            <a:r>
              <a:rPr kumimoji="0" lang="en-US" altLang="zh-CN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Full Name is updated to </a:t>
            </a: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 ^\"([^\"]*)\" $")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public void should_be_shown_on_screen(String email, String username) throws Exception {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</a:t>
            </a:r>
            <a:r>
              <a:rPr kumimoji="0" lang="en-US" altLang="zh-CN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userManageStep.get_fullName_Expected</a:t>
            </a:r>
            <a:r>
              <a:rPr kumimoji="0" lang="en-US" altLang="zh-CN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(</a:t>
            </a:r>
            <a:r>
              <a:rPr kumimoji="0" lang="en-US" altLang="zh-CN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fullName</a:t>
            </a:r>
            <a:r>
              <a:rPr kumimoji="0" lang="en-US" altLang="zh-CN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);</a:t>
            </a: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	    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}</a:t>
            </a:r>
            <a:endParaRPr kumimoji="0" lang="zh-CN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Down Arrow 4"/>
          <p:cNvSpPr/>
          <p:nvPr/>
        </p:nvSpPr>
        <p:spPr>
          <a:xfrm>
            <a:off x="4638675" y="2593340"/>
            <a:ext cx="907415" cy="689610"/>
          </a:xfrm>
          <a:prstGeom prst="downArrow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40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Test function by AUTOMATION.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75945" y="1238250"/>
            <a:ext cx="10833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Define step</a:t>
            </a:r>
            <a:endParaRPr lang="en-US"/>
          </a:p>
        </p:txBody>
      </p:sp>
      <p:pic>
        <p:nvPicPr>
          <p:cNvPr id="4" name="Content Placeholder 3" descr="update user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626995" y="1183005"/>
            <a:ext cx="6938010" cy="4953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Test function by AUTOMATION.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9428480" y="1159510"/>
            <a:ext cx="2153920" cy="462788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9995535" y="1159510"/>
            <a:ext cx="1019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PAGE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5" name="Flowchart: Terminator 4"/>
          <p:cNvSpPr/>
          <p:nvPr/>
        </p:nvSpPr>
        <p:spPr>
          <a:xfrm>
            <a:off x="9631680" y="1707515"/>
            <a:ext cx="1784985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1....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1 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Flowchart: Terminator 5"/>
          <p:cNvSpPr/>
          <p:nvPr/>
        </p:nvSpPr>
        <p:spPr>
          <a:xfrm>
            <a:off x="9631045" y="3046095"/>
            <a:ext cx="1785620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2....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2 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Flowchart: Terminator 6"/>
          <p:cNvSpPr/>
          <p:nvPr/>
        </p:nvSpPr>
        <p:spPr>
          <a:xfrm>
            <a:off x="9752965" y="4384040"/>
            <a:ext cx="1663700" cy="107061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...locator 3....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~ Method 3~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17845" y="1159510"/>
            <a:ext cx="2162175" cy="462788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9" name="Flowchart: Terminator 8"/>
          <p:cNvSpPr/>
          <p:nvPr/>
        </p:nvSpPr>
        <p:spPr>
          <a:xfrm>
            <a:off x="5832475" y="1995805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Text Box 11"/>
          <p:cNvSpPr txBox="1"/>
          <p:nvPr/>
        </p:nvSpPr>
        <p:spPr>
          <a:xfrm>
            <a:off x="6188710" y="1159510"/>
            <a:ext cx="1019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STEP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5" name="Flowchart: Terminator 14"/>
          <p:cNvSpPr/>
          <p:nvPr/>
        </p:nvSpPr>
        <p:spPr>
          <a:xfrm>
            <a:off x="5831840" y="3540760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2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6" name="Flowchart: Terminator 15"/>
          <p:cNvSpPr/>
          <p:nvPr/>
        </p:nvSpPr>
        <p:spPr>
          <a:xfrm>
            <a:off x="5831840" y="4901565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Step 3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437765" y="2487295"/>
            <a:ext cx="2195195" cy="197167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9" name="Text Box 18"/>
          <p:cNvSpPr txBox="1"/>
          <p:nvPr/>
        </p:nvSpPr>
        <p:spPr>
          <a:xfrm>
            <a:off x="2701925" y="2677795"/>
            <a:ext cx="16662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accent5">
                    <a:lumMod val="40000"/>
                    <a:lumOff val="60000"/>
                  </a:schemeClr>
                </a:solidFill>
              </a:rPr>
              <a:t>DEFINITION</a:t>
            </a:r>
            <a:endParaRPr lang="en-US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Flowchart: Terminator 19"/>
          <p:cNvSpPr/>
          <p:nvPr/>
        </p:nvSpPr>
        <p:spPr>
          <a:xfrm>
            <a:off x="2668270" y="3211830"/>
            <a:ext cx="1733550" cy="739140"/>
          </a:xfrm>
          <a:prstGeom prst="flowChartTerminator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Action 1</a:t>
            </a:r>
            <a:endParaRPr kumimoji="0" lang="en-US" altLang="zh-CN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25" name="Curved Connector 24"/>
          <p:cNvCxnSpPr>
            <a:stCxn id="5" idx="1"/>
            <a:endCxn id="9" idx="3"/>
          </p:cNvCxnSpPr>
          <p:nvPr/>
        </p:nvCxnSpPr>
        <p:spPr>
          <a:xfrm rot="10800000" flipV="1">
            <a:off x="7565390" y="2242185"/>
            <a:ext cx="2065655" cy="122555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Curved Connector 25"/>
          <p:cNvCxnSpPr>
            <a:stCxn id="6" idx="1"/>
            <a:endCxn id="15" idx="3"/>
          </p:cNvCxnSpPr>
          <p:nvPr/>
        </p:nvCxnSpPr>
        <p:spPr>
          <a:xfrm rot="10800000" flipV="1">
            <a:off x="7564755" y="3581400"/>
            <a:ext cx="2065655" cy="328930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7" name="Curved Connector 26"/>
          <p:cNvCxnSpPr>
            <a:stCxn id="7" idx="1"/>
            <a:endCxn id="16" idx="3"/>
          </p:cNvCxnSpPr>
          <p:nvPr/>
        </p:nvCxnSpPr>
        <p:spPr>
          <a:xfrm rot="10800000" flipV="1">
            <a:off x="7564755" y="4919345"/>
            <a:ext cx="2187575" cy="351790"/>
          </a:xfrm>
          <a:prstGeom prst="curvedConnector3">
            <a:avLst>
              <a:gd name="adj1" fmla="val 49985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8" name="Curved Connector 27"/>
          <p:cNvCxnSpPr>
            <a:stCxn id="9" idx="1"/>
            <a:endCxn id="20" idx="3"/>
          </p:cNvCxnSpPr>
          <p:nvPr/>
        </p:nvCxnSpPr>
        <p:spPr>
          <a:xfrm rot="10800000" flipV="1">
            <a:off x="4401820" y="2365375"/>
            <a:ext cx="1430655" cy="1216025"/>
          </a:xfrm>
          <a:prstGeom prst="curvedConnector3">
            <a:avLst>
              <a:gd name="adj1" fmla="val 49978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9" name="Curved Connector 28"/>
          <p:cNvCxnSpPr>
            <a:stCxn id="15" idx="1"/>
            <a:endCxn id="20" idx="3"/>
          </p:cNvCxnSpPr>
          <p:nvPr/>
        </p:nvCxnSpPr>
        <p:spPr>
          <a:xfrm rot="10800000">
            <a:off x="4401820" y="3581400"/>
            <a:ext cx="1430020" cy="328930"/>
          </a:xfrm>
          <a:prstGeom prst="curvedConnector3">
            <a:avLst>
              <a:gd name="adj1" fmla="val 5000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0" name="Curved Connector 29"/>
          <p:cNvCxnSpPr>
            <a:stCxn id="16" idx="1"/>
            <a:endCxn id="20" idx="3"/>
          </p:cNvCxnSpPr>
          <p:nvPr/>
        </p:nvCxnSpPr>
        <p:spPr>
          <a:xfrm rot="10800000">
            <a:off x="4401820" y="3581400"/>
            <a:ext cx="1430020" cy="1689735"/>
          </a:xfrm>
          <a:prstGeom prst="curvedConnector3">
            <a:avLst>
              <a:gd name="adj1" fmla="val 50000"/>
            </a:avLst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4" name="Explosion 1 33"/>
          <p:cNvSpPr/>
          <p:nvPr/>
        </p:nvSpPr>
        <p:spPr>
          <a:xfrm>
            <a:off x="144780" y="1191260"/>
            <a:ext cx="2292985" cy="2020570"/>
          </a:xfrm>
          <a:prstGeom prst="irregularSeal1">
            <a:avLst/>
          </a:prstGeom>
          <a:solidFill>
            <a:srgbClr val="92D050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Feature File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cxnSp>
        <p:nvCxnSpPr>
          <p:cNvPr id="35" name="Curved Connector 34"/>
          <p:cNvCxnSpPr>
            <a:stCxn id="34" idx="2"/>
            <a:endCxn id="20" idx="1"/>
          </p:cNvCxnSpPr>
          <p:nvPr/>
        </p:nvCxnSpPr>
        <p:spPr>
          <a:xfrm rot="5400000" flipV="1">
            <a:off x="1671955" y="2585085"/>
            <a:ext cx="369570" cy="1623060"/>
          </a:xfrm>
          <a:prstGeom prst="curvedConnector2">
            <a:avLst/>
          </a:prstGeom>
          <a:ln w="38100">
            <a:solidFill>
              <a:srgbClr val="92D05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Test function by AUTOMATION.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pic>
        <p:nvPicPr>
          <p:cNvPr id="11" name="Content Placeholder 10" descr="ghe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093845" y="1174750"/>
            <a:ext cx="3604895" cy="52838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Demo &amp; Report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>
          <a:xfrm>
            <a:off x="609600" y="1974850"/>
            <a:ext cx="10972800" cy="4953000"/>
          </a:xfrm>
        </p:spPr>
        <p:txBody>
          <a:bodyPr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r>
              <a:rPr lang="en-US"/>
              <a:t> </a:t>
            </a:r>
            <a:r>
              <a:rPr lang="en-US" sz="48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Scenario - Create new User</a:t>
            </a:r>
            <a:endParaRPr lang="en-US" sz="48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250690" y="2829560"/>
            <a:ext cx="3689985" cy="11988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altLang="zh-CN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Thanks!</a:t>
            </a:r>
            <a:endParaRPr lang="en-US" altLang="zh-CN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5615</Words>
  <Application>WPS Presentation</Application>
  <PresentationFormat>Widescreen</PresentationFormat>
  <Paragraphs>296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9" baseType="lpstr">
      <vt:lpstr>Arial</vt:lpstr>
      <vt:lpstr>SimSun</vt:lpstr>
      <vt:lpstr>Wingdings</vt:lpstr>
      <vt:lpstr>Microsoft YaHei</vt:lpstr>
      <vt:lpstr>Calibri</vt:lpstr>
      <vt:lpstr>Orange Waves</vt:lpstr>
      <vt:lpstr> 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kvtruyen</cp:lastModifiedBy>
  <cp:revision>117</cp:revision>
  <dcterms:created xsi:type="dcterms:W3CDTF">2017-12-03T10:52:00Z</dcterms:created>
  <dcterms:modified xsi:type="dcterms:W3CDTF">2018-01-02T04:18:12Z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1033-10.2.0.5871</vt:lpwstr>
  </property>
</Properties>
</file>