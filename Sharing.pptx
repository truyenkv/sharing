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56" r:id="rId3"/>
    <p:sldId id="257" r:id="rId4"/>
    <p:sldId id="278" r:id="rId5"/>
    <p:sldId id="292" r:id="rId6"/>
    <p:sldId id="293" r:id="rId7"/>
    <p:sldId id="294" r:id="rId8"/>
    <p:sldId id="296" r:id="rId9"/>
    <p:sldId id="297" r:id="rId10"/>
    <p:sldId id="298" r:id="rId11"/>
    <p:sldId id="299" r:id="rId12"/>
    <p:sldId id="300" r:id="rId13"/>
    <p:sldId id="302" r:id="rId14"/>
    <p:sldId id="304" r:id="rId15"/>
    <p:sldId id="305" r:id="rId16"/>
    <p:sldId id="306" r:id="rId17"/>
    <p:sldId id="307" r:id="rId18"/>
    <p:sldId id="308" r:id="rId19"/>
    <p:sldId id="309" r:id="rId20"/>
    <p:sldId id="281" r:id="rId21"/>
    <p:sldId id="262" r:id="rId22"/>
    <p:sldId id="311" r:id="rId23"/>
    <p:sldId id="264" r:id="rId24"/>
    <p:sldId id="277" r:id="rId25"/>
  </p:sldIdLst>
  <p:sldSz cx="12192000" cy="6858000"/>
  <p:notesSz cx="7103745" cy="1023429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2" autoAdjust="0"/>
    <p:restoredTop sz="94660"/>
  </p:normalViewPr>
  <p:slideViewPr>
    <p:cSldViewPr snapToGrid="0">
      <p:cViewPr varScale="1">
        <p:scale>
          <a:sx n="78" d="100"/>
          <a:sy n="78" d="100"/>
        </p:scale>
        <p:origin x="120" y="8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1" d="100"/>
          <a:sy n="41" d="100"/>
        </p:scale>
        <p:origin x="1794" y="5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notesMaster" Target="notesMasters/notesMaster1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rcRect b="3795"/>
          <a:stretch>
            <a:fillRect/>
          </a:stretch>
        </p:blipFill>
        <p:spPr>
          <a:xfrm>
            <a:off x="0" y="260350"/>
            <a:ext cx="12192000" cy="65976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24417" y="620713"/>
            <a:ext cx="10943167" cy="10826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26533" y="1843088"/>
            <a:ext cx="10949517" cy="981075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97D7747-D9D0-4222-AE01-C647B9939E3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97D7747-D9D0-4222-AE01-C647B9939E3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mailto:admin@yopmail.com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mailto:admin@yopmail.com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60500" y="795020"/>
            <a:ext cx="9144000" cy="923925"/>
          </a:xfrm>
        </p:spPr>
        <p:txBody>
          <a:bodyPr>
            <a:normAutofit/>
          </a:bodyPr>
          <a:lstStyle/>
          <a:p>
            <a:r>
              <a:rPr lang="en-US" sz="4000" b="1"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alpha val="40000"/>
                      <a:lumMod val="50000"/>
                    </a:schemeClr>
                  </a:outerShdw>
                </a:effectLst>
              </a:rPr>
              <a:t> Sharing</a:t>
            </a:r>
            <a:endParaRPr lang="en-US" sz="4000" b="1"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alpha val="40000"/>
                    <a:lumMod val="50000"/>
                  </a:scheme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60500" y="1579245"/>
            <a:ext cx="9271000" cy="1545590"/>
          </a:xfrm>
        </p:spPr>
        <p:txBody>
          <a:bodyPr/>
          <a:lstStyle/>
          <a:p>
            <a:r>
              <a:rPr lang="en-US" sz="440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 Automation Testing</a:t>
            </a:r>
            <a:endParaRPr lang="en-US" sz="440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  <a:p>
            <a:r>
              <a:rPr lang="en-US" sz="440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 SERENITY BDD - CUCUMBER</a:t>
            </a:r>
            <a:endParaRPr lang="en-US" sz="440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4" name="Title 1"/>
          <p:cNvSpPr>
            <a:spLocks noGrp="1"/>
          </p:cNvSpPr>
          <p:nvPr/>
        </p:nvSpPr>
        <p:spPr>
          <a:xfrm>
            <a:off x="5271770" y="4422775"/>
            <a:ext cx="9144000" cy="153987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rmAutofit/>
            <a:scene3d>
              <a:camera prst="orthographicFront"/>
              <a:lightRig rig="threePt" dir="t"/>
            </a:scene3d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r>
              <a:rPr lang="en-US" sz="280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Team         : Dynagility - QC</a:t>
            </a:r>
            <a:endParaRPr lang="en-US" sz="280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  <a:p>
            <a:r>
              <a:rPr lang="en-US" sz="280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Presenter  :  Kieu Van Truyen</a:t>
            </a:r>
            <a:endParaRPr lang="en-US" sz="280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  <a:p>
            <a:endParaRPr lang="en-US" sz="280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6" name="Title 1"/>
          <p:cNvSpPr>
            <a:spLocks noGrp="1"/>
          </p:cNvSpPr>
          <p:nvPr/>
        </p:nvSpPr>
        <p:spPr>
          <a:xfrm>
            <a:off x="1460500" y="154305"/>
            <a:ext cx="9144000" cy="92392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rm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/>
            <a:r>
              <a:rPr lang="en-US" sz="400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Tuong Minh Service Private Enterprise</a:t>
            </a:r>
            <a:endParaRPr lang="en-US" sz="400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7" name="Subtitle 2"/>
          <p:cNvSpPr>
            <a:spLocks noGrp="1"/>
          </p:cNvSpPr>
          <p:nvPr/>
        </p:nvSpPr>
        <p:spPr>
          <a:xfrm>
            <a:off x="5372100" y="3361690"/>
            <a:ext cx="9538970" cy="154559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0" indent="0" algn="l" rtl="0" fontAlgn="base">
              <a:spcBef>
                <a:spcPct val="20000"/>
              </a:spcBef>
              <a:spcAft>
                <a:spcPct val="0"/>
              </a:spcAft>
              <a:buFontTx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             </a:t>
            </a:r>
            <a:endParaRPr lang="en-US" sz="280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9900" y="1949450"/>
            <a:ext cx="10972800" cy="4953000"/>
          </a:xfrm>
        </p:spPr>
        <p:txBody>
          <a:bodyPr/>
          <a:lstStyle/>
          <a:p>
            <a:r>
              <a:rPr lang="en-US" sz="4400"/>
              <a:t>I.</a:t>
            </a:r>
            <a:r>
              <a:rPr lang="en-US"/>
              <a:t>	</a:t>
            </a:r>
            <a:endParaRPr lang="en-US"/>
          </a:p>
          <a:p>
            <a:r>
              <a:rPr lang="en-US" sz="4400"/>
              <a:t>II. </a:t>
            </a:r>
            <a:endParaRPr lang="en-US" sz="4400"/>
          </a:p>
          <a:p>
            <a:r>
              <a:rPr lang="en-US" sz="4400"/>
              <a:t>III.</a:t>
            </a:r>
            <a:endParaRPr lang="en-US" sz="4400"/>
          </a:p>
          <a:p>
            <a:r>
              <a:rPr lang="en-US" sz="4400"/>
              <a:t>IV.</a:t>
            </a:r>
            <a:endParaRPr lang="en-US" sz="4400"/>
          </a:p>
          <a:p>
            <a:pPr marL="0" indent="0">
              <a:buNone/>
            </a:pPr>
            <a:endParaRPr lang="en-US" sz="4400"/>
          </a:p>
        </p:txBody>
      </p:sp>
      <p:sp>
        <p:nvSpPr>
          <p:cNvPr id="4" name="Rounded Rectangle 3"/>
          <p:cNvSpPr/>
          <p:nvPr/>
        </p:nvSpPr>
        <p:spPr>
          <a:xfrm>
            <a:off x="1800225" y="1949450"/>
            <a:ext cx="8407400" cy="615315"/>
          </a:xfrm>
          <a:prstGeom prst="roundRect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>
            <a:scene3d>
              <a:camera prst="orthographicFront"/>
              <a:lightRig rig="threePt" dir="t"/>
            </a:scene3d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b="0" i="0" u="none" strike="noStrike" cap="none" normalizeH="0" baseline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ea typeface="SimSun" panose="02010600030101010101" pitchFamily="2" charset="-122"/>
              </a:rPr>
              <a:t>What is BDD</a:t>
            </a:r>
            <a:r>
              <a:rPr kumimoji="0" lang="en-US" altLang="zh-CN" sz="2000" b="0" i="0" u="none" strike="noStrike" cap="none" normalizeH="0" baseline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ea typeface="SimSun" panose="02010600030101010101" pitchFamily="2" charset="-122"/>
              </a:rPr>
              <a:t>?</a:t>
            </a:r>
            <a:endParaRPr kumimoji="0" lang="en-US" altLang="zh-CN" sz="2000" b="0" i="0" u="none" strike="noStrike" cap="none" normalizeH="0" baseline="0" smtClean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751965" y="2818130"/>
            <a:ext cx="8407400" cy="615315"/>
          </a:xfrm>
          <a:prstGeom prst="roundRect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>
            <a:scene3d>
              <a:camera prst="orthographicFront"/>
              <a:lightRig rig="threePt" dir="t"/>
            </a:scene3d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800" b="0" i="0" u="none" strike="noStrike" cap="none" normalizeH="0" baseline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ea typeface="SimSun" panose="02010600030101010101" pitchFamily="2" charset="-122"/>
              </a:rPr>
              <a:t>Cucumber - Gherkin</a:t>
            </a:r>
            <a:endParaRPr kumimoji="0" lang="en-US" altLang="zh-CN" sz="2800" b="0" i="0" u="none" strike="noStrike" cap="none" normalizeH="0" baseline="0" smtClean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10" name="Flowchart: Process 9"/>
          <p:cNvSpPr/>
          <p:nvPr/>
        </p:nvSpPr>
        <p:spPr>
          <a:xfrm>
            <a:off x="609600" y="190500"/>
            <a:ext cx="10972800" cy="784860"/>
          </a:xfrm>
          <a:prstGeom prst="flowChartProcess">
            <a:avLst/>
          </a:prstGeom>
          <a:gradFill rotWithShape="0">
            <a:gsLst>
              <a:gs pos="0">
                <a:srgbClr val="012D86"/>
              </a:gs>
              <a:gs pos="100000">
                <a:srgbClr val="0E2557"/>
              </a:gs>
            </a:gsLst>
            <a:lin ang="5400000" scaled="0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50800" dir="5400000" algn="ctr" rotWithShape="0">
              <a:srgbClr val="002060">
                <a:alpha val="38000"/>
              </a:srgbClr>
            </a:outerShdw>
          </a:effectLst>
        </p:spPr>
        <p:txBody>
          <a:bodyPr vert="horz" wrap="none" lIns="91440" tIns="45720" rIns="91440" bIns="45720" numCol="1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4000" b="0" i="0" u="none" strike="noStrike" cap="none" normalizeH="0" baseline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ea typeface="SimSun" panose="02010600030101010101" pitchFamily="2" charset="-122"/>
              </a:rPr>
              <a:t>I. Testing funct</a:t>
            </a:r>
            <a:endParaRPr kumimoji="0" lang="en-US" altLang="zh-CN" sz="4000" b="0" i="0" u="none" strike="noStrike" cap="none" normalizeH="0" baseline="0" smtClean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752600" y="1949450"/>
            <a:ext cx="8407400" cy="615315"/>
          </a:xfrm>
          <a:prstGeom prst="roundRect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>
            <a:scene3d>
              <a:camera prst="orthographicFront"/>
              <a:lightRig rig="threePt" dir="t"/>
            </a:scene3d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800" b="0" i="0" u="none" strike="noStrike" cap="none" normalizeH="0" baseline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ea typeface="SimSun" panose="02010600030101010101" pitchFamily="2" charset="-122"/>
              </a:rPr>
              <a:t>Test function by MANUAL.</a:t>
            </a:r>
            <a:endParaRPr kumimoji="0" lang="en-US" altLang="zh-CN" sz="2800" b="0" i="0" u="none" strike="noStrike" cap="none" normalizeH="0" baseline="0" smtClean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1752600" y="3649345"/>
            <a:ext cx="8407400" cy="615315"/>
          </a:xfrm>
          <a:prstGeom prst="roundRect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>
            <a:scene3d>
              <a:camera prst="orthographicFront"/>
              <a:lightRig rig="threePt" dir="t"/>
            </a:scene3d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800" b="0" i="0" u="none" strike="noStrike" cap="none" normalizeH="0" baseline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ea typeface="SimSun" panose="02010600030101010101" pitchFamily="2" charset="-122"/>
              </a:rPr>
              <a:t>Test function by AUTOMATION.</a:t>
            </a:r>
            <a:endParaRPr kumimoji="0" lang="en-US" altLang="zh-CN" sz="2800" b="0" i="0" u="none" strike="noStrike" cap="none" normalizeH="0" baseline="0" smtClean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751965" y="4455795"/>
            <a:ext cx="8407400" cy="615315"/>
          </a:xfrm>
          <a:prstGeom prst="roundRect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>
            <a:scene3d>
              <a:camera prst="orthographicFront"/>
              <a:lightRig rig="threePt" dir="t"/>
            </a:scene3d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800" b="0" i="0" u="none" strike="noStrike" cap="none" normalizeH="0" baseline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ea typeface="SimSun" panose="02010600030101010101" pitchFamily="2" charset="-122"/>
              </a:rPr>
              <a:t>Demo &amp; Report</a:t>
            </a:r>
            <a:endParaRPr kumimoji="0" lang="en-US" altLang="zh-CN" sz="2800" b="0" i="0" u="none" strike="noStrike" cap="none" normalizeH="0" baseline="0" smtClean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10" name="Flowchart: Process 9"/>
          <p:cNvSpPr/>
          <p:nvPr/>
        </p:nvSpPr>
        <p:spPr>
          <a:xfrm>
            <a:off x="609600" y="190500"/>
            <a:ext cx="10972800" cy="784860"/>
          </a:xfrm>
          <a:prstGeom prst="flowChartProcess">
            <a:avLst/>
          </a:prstGeom>
          <a:gradFill rotWithShape="0">
            <a:gsLst>
              <a:gs pos="0">
                <a:srgbClr val="012D86"/>
              </a:gs>
              <a:gs pos="100000">
                <a:srgbClr val="0E2557"/>
              </a:gs>
            </a:gsLst>
            <a:lin ang="5400000" scaled="0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50800" dir="5400000" algn="ctr" rotWithShape="0">
              <a:srgbClr val="002060">
                <a:alpha val="38000"/>
              </a:srgbClr>
            </a:outerShdw>
          </a:effectLst>
        </p:spPr>
        <p:txBody>
          <a:bodyPr vert="horz" wrap="none" lIns="91440" tIns="45720" rIns="91440" bIns="45720" numCol="1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4000" b="0" i="0" u="none" strike="noStrike" cap="none" normalizeH="0" baseline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ea typeface="SimSun" panose="02010600030101010101" pitchFamily="2" charset="-122"/>
              </a:rPr>
              <a:t>I. Test function by MANUAL</a:t>
            </a:r>
            <a:endParaRPr kumimoji="0" lang="en-US" altLang="zh-CN" sz="4000" b="0" i="0" u="none" strike="noStrike" cap="none" normalizeH="0" baseline="0" smtClean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596900" y="1339850"/>
            <a:ext cx="10820400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Example: Create new User</a:t>
            </a:r>
            <a:endParaRPr lang="en-US"/>
          </a:p>
        </p:txBody>
      </p:sp>
      <p:pic>
        <p:nvPicPr>
          <p:cNvPr id="3" name="Content Placeholder 2" descr="create new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09600" y="1705610"/>
            <a:ext cx="6348730" cy="42144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lowchart: Process 9"/>
          <p:cNvSpPr/>
          <p:nvPr/>
        </p:nvSpPr>
        <p:spPr>
          <a:xfrm>
            <a:off x="609600" y="190500"/>
            <a:ext cx="10972800" cy="784860"/>
          </a:xfrm>
          <a:prstGeom prst="flowChartProcess">
            <a:avLst/>
          </a:prstGeom>
          <a:gradFill rotWithShape="0">
            <a:gsLst>
              <a:gs pos="0">
                <a:srgbClr val="012D86"/>
              </a:gs>
              <a:gs pos="100000">
                <a:srgbClr val="0E2557"/>
              </a:gs>
            </a:gsLst>
            <a:lin ang="5400000" scaled="0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50800" dir="5400000" algn="ctr" rotWithShape="0">
              <a:srgbClr val="002060">
                <a:alpha val="38000"/>
              </a:srgbClr>
            </a:outerShdw>
          </a:effectLst>
        </p:spPr>
        <p:txBody>
          <a:bodyPr vert="horz" wrap="none" lIns="91440" tIns="45720" rIns="91440" bIns="45720" numCol="1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4000" b="0" i="0" u="none" strike="noStrike" cap="none" normalizeH="0" baseline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ea typeface="SimSun" panose="02010600030101010101" pitchFamily="2" charset="-122"/>
              </a:rPr>
              <a:t>I. Test function by MANUAL</a:t>
            </a:r>
            <a:endParaRPr kumimoji="0" lang="en-US" altLang="zh-CN" sz="4000" b="0" i="0" u="none" strike="noStrike" cap="none" normalizeH="0" baseline="0" smtClean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609600" y="1378585"/>
            <a:ext cx="9816465" cy="39319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>
              <a:buNone/>
            </a:pPr>
            <a:r>
              <a:rPr lang="en-US" b="1" dirty="0" smtClean="0">
                <a:sym typeface="+mn-ea"/>
              </a:rPr>
              <a:t>Precondition</a:t>
            </a:r>
            <a:endParaRPr lang="en-US" b="1" dirty="0" smtClean="0">
              <a:sym typeface="+mn-ea"/>
            </a:endParaRPr>
          </a:p>
          <a:p>
            <a:pPr marL="0" indent="0">
              <a:buNone/>
            </a:pPr>
            <a:r>
              <a:rPr lang="en-US" dirty="0" smtClean="0">
                <a:sym typeface="+mn-ea"/>
              </a:rPr>
              <a:t> 	</a:t>
            </a:r>
            <a:r>
              <a:rPr lang="en-US" dirty="0" smtClean="0">
                <a:sym typeface="+mn-ea"/>
              </a:rPr>
              <a:t>Logged in successfully using </a:t>
            </a:r>
            <a:r>
              <a:rPr lang="en-US" dirty="0" smtClean="0">
                <a:sym typeface="+mn-ea"/>
                <a:hlinkClick r:id="rId1"/>
              </a:rPr>
              <a:t>admin@yopmail.com</a:t>
            </a:r>
            <a:r>
              <a:rPr lang="en-US" dirty="0" smtClean="0">
                <a:sym typeface="+mn-ea"/>
              </a:rPr>
              <a:t> account</a:t>
            </a:r>
            <a:endParaRPr lang="en-US" dirty="0" smtClean="0"/>
          </a:p>
          <a:p>
            <a:pPr marL="0" indent="0">
              <a:buNone/>
            </a:pPr>
            <a:r>
              <a:rPr lang="en-US" b="1" dirty="0" smtClean="0">
                <a:sym typeface="+mn-ea"/>
              </a:rPr>
              <a:t>Steps</a:t>
            </a:r>
            <a:endParaRPr lang="en-US" b="1" dirty="0" smtClean="0">
              <a:sym typeface="+mn-ea"/>
            </a:endParaRPr>
          </a:p>
          <a:p>
            <a:pPr marL="514350" indent="-514350">
              <a:buAutoNum type="arabicPeriod"/>
            </a:pPr>
            <a:r>
              <a:rPr lang="en-US" dirty="0" smtClean="0">
                <a:sym typeface="+mn-ea"/>
              </a:rPr>
              <a:t>Click on Manage menu</a:t>
            </a:r>
            <a:endParaRPr lang="en-US" dirty="0" smtClean="0"/>
          </a:p>
          <a:p>
            <a:pPr marL="514350" indent="-514350">
              <a:buAutoNum type="arabicPeriod"/>
            </a:pPr>
            <a:r>
              <a:rPr lang="en-US" dirty="0" smtClean="0">
                <a:sym typeface="+mn-ea"/>
              </a:rPr>
              <a:t>Click on Manage Administrators menu</a:t>
            </a:r>
            <a:endParaRPr lang="en-US" dirty="0" smtClean="0"/>
          </a:p>
          <a:p>
            <a:pPr marL="514350" indent="-514350">
              <a:buAutoNum type="arabicPeriod"/>
            </a:pPr>
            <a:r>
              <a:rPr lang="en-US" dirty="0" smtClean="0"/>
              <a:t>Click on Add User button</a:t>
            </a:r>
            <a:endParaRPr lang="en-US" dirty="0" smtClean="0"/>
          </a:p>
          <a:p>
            <a:pPr marL="514350" indent="-514350">
              <a:buAutoNum type="arabicPeriod"/>
            </a:pPr>
            <a:r>
              <a:rPr lang="en-US" dirty="0" smtClean="0">
                <a:sym typeface="+mn-ea"/>
              </a:rPr>
              <a:t>Input First Name, Last Name and Email.</a:t>
            </a:r>
            <a:endParaRPr lang="en-US" dirty="0" smtClean="0"/>
          </a:p>
          <a:p>
            <a:pPr marL="514350" indent="-514350">
              <a:buAutoNum type="arabicPeriod"/>
            </a:pPr>
            <a:r>
              <a:rPr lang="en-US" dirty="0" smtClean="0">
                <a:sym typeface="+mn-ea"/>
              </a:rPr>
              <a:t>Click on Save button</a:t>
            </a:r>
            <a:endParaRPr lang="en-US" dirty="0" smtClean="0">
              <a:sym typeface="+mn-ea"/>
            </a:endParaRPr>
          </a:p>
          <a:p>
            <a:pPr indent="0">
              <a:buNone/>
            </a:pPr>
            <a:endParaRPr lang="en-US"/>
          </a:p>
          <a:p>
            <a:pPr marL="0" indent="0">
              <a:buNone/>
            </a:pPr>
            <a:r>
              <a:rPr lang="en-US" b="1" dirty="0" smtClean="0">
                <a:sym typeface="+mn-ea"/>
              </a:rPr>
              <a:t>Expected</a:t>
            </a:r>
            <a:endParaRPr lang="en-US" b="1" dirty="0" smtClean="0">
              <a:sym typeface="+mn-ea"/>
            </a:endParaRPr>
          </a:p>
          <a:p>
            <a:pPr marL="0" indent="0">
              <a:buNone/>
            </a:pPr>
            <a:r>
              <a:rPr lang="en-US" dirty="0" smtClean="0">
                <a:sym typeface="+mn-ea"/>
              </a:rPr>
              <a:t>5.1   System navigates to Manage System Administrators screen.</a:t>
            </a:r>
            <a:endParaRPr lang="en-US" dirty="0" smtClean="0">
              <a:sym typeface="+mn-ea"/>
            </a:endParaRPr>
          </a:p>
          <a:p>
            <a:pPr marL="0" indent="0">
              <a:buNone/>
            </a:pPr>
            <a:r>
              <a:rPr lang="en-US" dirty="0" smtClean="0">
                <a:sym typeface="+mn-ea"/>
              </a:rPr>
              <a:t>5.2   User is displayed on screen.</a:t>
            </a:r>
            <a:endParaRPr lang="en-US" dirty="0"/>
          </a:p>
          <a:p>
            <a:pPr indent="0">
              <a:buNone/>
            </a:pPr>
            <a:endParaRPr lang="en-US"/>
          </a:p>
          <a:p>
            <a:pPr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10" name="Flowchart: Process 9"/>
          <p:cNvSpPr/>
          <p:nvPr/>
        </p:nvSpPr>
        <p:spPr>
          <a:xfrm>
            <a:off x="609600" y="190500"/>
            <a:ext cx="10972800" cy="784860"/>
          </a:xfrm>
          <a:prstGeom prst="flowChartProcess">
            <a:avLst/>
          </a:prstGeom>
          <a:gradFill rotWithShape="0">
            <a:gsLst>
              <a:gs pos="0">
                <a:srgbClr val="012D86"/>
              </a:gs>
              <a:gs pos="100000">
                <a:srgbClr val="0E2557"/>
              </a:gs>
            </a:gsLst>
            <a:lin ang="5400000" scaled="0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50800" dir="5400000" algn="ctr" rotWithShape="0">
              <a:srgbClr val="002060">
                <a:alpha val="38000"/>
              </a:srgbClr>
            </a:outerShdw>
          </a:effectLst>
        </p:spPr>
        <p:txBody>
          <a:bodyPr vert="horz" wrap="none" lIns="91440" tIns="45720" rIns="91440" bIns="45720" numCol="1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4000" b="0" i="0" u="none" strike="noStrike" cap="none" normalizeH="0" baseline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ea typeface="SimSun" panose="02010600030101010101" pitchFamily="2" charset="-122"/>
              </a:rPr>
              <a:t>II. Cucumber - Gherkin.</a:t>
            </a:r>
            <a:endParaRPr kumimoji="0" lang="en-US" altLang="zh-CN" sz="4000" b="0" i="0" u="none" strike="noStrike" cap="none" normalizeH="0" baseline="0" smtClean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09600" y="1120140"/>
            <a:ext cx="10972800" cy="43370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1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1. Cucumber.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4446905" y="1804670"/>
            <a:ext cx="7158355" cy="39319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/>
              <a:t>A cucumber is a tool based on Behavior Driven Development (BDD) framework which is used to write acceptance tests for the web application.</a:t>
            </a:r>
            <a:endParaRPr lang="en-US" sz="2800"/>
          </a:p>
          <a:p>
            <a:endParaRPr lang="en-US" sz="2800"/>
          </a:p>
          <a:p>
            <a:r>
              <a:rPr lang="en-US" sz="2800"/>
              <a:t>It lets us define application behavior in plain meaningful English text using a simple grammar defined by a language called Gherkin. </a:t>
            </a:r>
            <a:endParaRPr lang="en-US" sz="2800"/>
          </a:p>
        </p:txBody>
      </p:sp>
      <p:pic>
        <p:nvPicPr>
          <p:cNvPr id="7" name="Content Placeholder 6" descr="download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09600" y="1804670"/>
            <a:ext cx="3693795" cy="15760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10" name="Flowchart: Process 9"/>
          <p:cNvSpPr/>
          <p:nvPr/>
        </p:nvSpPr>
        <p:spPr>
          <a:xfrm>
            <a:off x="609600" y="190500"/>
            <a:ext cx="10972800" cy="784860"/>
          </a:xfrm>
          <a:prstGeom prst="flowChartProcess">
            <a:avLst/>
          </a:prstGeom>
          <a:gradFill rotWithShape="0">
            <a:gsLst>
              <a:gs pos="0">
                <a:srgbClr val="012D86"/>
              </a:gs>
              <a:gs pos="100000">
                <a:srgbClr val="0E2557"/>
              </a:gs>
            </a:gsLst>
            <a:lin ang="5400000" scaled="0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50800" dir="5400000" algn="ctr" rotWithShape="0">
              <a:srgbClr val="002060">
                <a:alpha val="38000"/>
              </a:srgbClr>
            </a:outerShdw>
          </a:effectLst>
        </p:spPr>
        <p:txBody>
          <a:bodyPr vert="horz" wrap="none" lIns="91440" tIns="45720" rIns="91440" bIns="45720" numCol="1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4000" b="0" i="0" u="none" strike="noStrike" cap="none" normalizeH="0" baseline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ea typeface="SimSun" panose="02010600030101010101" pitchFamily="2" charset="-122"/>
              </a:rPr>
              <a:t>II. Cucumber - Gherkin.</a:t>
            </a:r>
            <a:endParaRPr kumimoji="0" lang="en-US" altLang="zh-CN" sz="4000" b="0" i="0" u="none" strike="noStrike" cap="none" normalizeH="0" baseline="0" smtClean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09600" y="1120140"/>
            <a:ext cx="10972800" cy="43370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1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2. Gherkin - Definition 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619760" y="1746885"/>
            <a:ext cx="10960735" cy="35052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200"/>
              <a:t>-	Gherkin is plain-text language with a little extra structure.</a:t>
            </a:r>
            <a:endParaRPr lang="en-US" sz="3200"/>
          </a:p>
          <a:p>
            <a:r>
              <a:rPr lang="en-US" sz="3200"/>
              <a:t>- 	Gherkin is designed to be easy to learn by non-programmers</a:t>
            </a:r>
            <a:endParaRPr lang="en-US" sz="3200"/>
          </a:p>
          <a:p>
            <a:r>
              <a:rPr lang="en-US" sz="3200"/>
              <a:t>-	Yet structured enough to allow concise description of examples to illustrate business rules in most real-world domains.</a:t>
            </a:r>
            <a:endParaRPr lang="en-US" sz="3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10" name="Flowchart: Process 9"/>
          <p:cNvSpPr/>
          <p:nvPr/>
        </p:nvSpPr>
        <p:spPr>
          <a:xfrm>
            <a:off x="609600" y="190500"/>
            <a:ext cx="10972800" cy="784860"/>
          </a:xfrm>
          <a:prstGeom prst="flowChartProcess">
            <a:avLst/>
          </a:prstGeom>
          <a:gradFill rotWithShape="0">
            <a:gsLst>
              <a:gs pos="0">
                <a:srgbClr val="012D86"/>
              </a:gs>
              <a:gs pos="100000">
                <a:srgbClr val="0E2557"/>
              </a:gs>
            </a:gsLst>
            <a:lin ang="5400000" scaled="0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50800" dir="5400000" algn="ctr" rotWithShape="0">
              <a:srgbClr val="002060">
                <a:alpha val="38000"/>
              </a:srgbClr>
            </a:outerShdw>
          </a:effectLst>
        </p:spPr>
        <p:txBody>
          <a:bodyPr vert="horz" wrap="none" lIns="91440" tIns="45720" rIns="91440" bIns="45720" numCol="1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4000" b="0" i="0" u="none" strike="noStrike" cap="none" normalizeH="0" baseline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ea typeface="SimSun" panose="02010600030101010101" pitchFamily="2" charset="-122"/>
              </a:rPr>
              <a:t>II. Cucumber - Gherkin.</a:t>
            </a:r>
            <a:endParaRPr kumimoji="0" lang="en-US" altLang="zh-CN" sz="4000" b="0" i="0" u="none" strike="noStrike" cap="none" normalizeH="0" baseline="0" smtClean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09600" y="1120140"/>
            <a:ext cx="10972800" cy="43370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1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2. Gherkin - Elements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579755" y="1757045"/>
            <a:ext cx="11030585" cy="37490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>
                <a:solidFill>
                  <a:srgbClr val="92D050"/>
                </a:solidFill>
              </a:rPr>
              <a:t>Feature:</a:t>
            </a:r>
            <a:r>
              <a:rPr lang="en-US" sz="2400"/>
              <a:t> Some terse yet descriptive text of what is desired starts the feature and gives it a title</a:t>
            </a:r>
            <a:endParaRPr lang="en-US" sz="2400"/>
          </a:p>
          <a:p>
            <a:endParaRPr lang="en-US" sz="2400"/>
          </a:p>
          <a:p>
            <a:r>
              <a:rPr lang="en-US" sz="2400">
                <a:solidFill>
                  <a:srgbClr val="92D050"/>
                </a:solidFill>
              </a:rPr>
              <a:t>Scenario:</a:t>
            </a:r>
            <a:r>
              <a:rPr lang="en-US" sz="2400"/>
              <a:t> Some determinable business situation starts the scenario, and contains a description of the scenario</a:t>
            </a:r>
            <a:endParaRPr lang="en-US" sz="2400"/>
          </a:p>
          <a:p>
            <a:endParaRPr lang="en-US" sz="2400"/>
          </a:p>
          <a:p>
            <a:r>
              <a:rPr lang="en-US" sz="2400">
                <a:solidFill>
                  <a:srgbClr val="00B0F0"/>
                </a:solidFill>
              </a:rPr>
              <a:t>Given</a:t>
            </a:r>
            <a:r>
              <a:rPr lang="en-US" sz="2400"/>
              <a:t> steps is to put the system in a known state before the user (or external system) starts interacting with the system</a:t>
            </a:r>
            <a:endParaRPr lang="en-US" sz="2400"/>
          </a:p>
          <a:p>
            <a:endParaRPr lang="en-US" sz="2400"/>
          </a:p>
          <a:p>
            <a:r>
              <a:rPr lang="en-US" sz="2400"/>
              <a:t>When</a:t>
            </a:r>
            <a:endParaRPr lang="en-US"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10" name="Flowchart: Process 9"/>
          <p:cNvSpPr/>
          <p:nvPr/>
        </p:nvSpPr>
        <p:spPr>
          <a:xfrm>
            <a:off x="609600" y="190500"/>
            <a:ext cx="10972800" cy="784860"/>
          </a:xfrm>
          <a:prstGeom prst="flowChartProcess">
            <a:avLst/>
          </a:prstGeom>
          <a:gradFill rotWithShape="0">
            <a:gsLst>
              <a:gs pos="0">
                <a:srgbClr val="012D86"/>
              </a:gs>
              <a:gs pos="100000">
                <a:srgbClr val="0E2557"/>
              </a:gs>
            </a:gsLst>
            <a:lin ang="5400000" scaled="0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50800" dir="5400000" algn="ctr" rotWithShape="0">
              <a:srgbClr val="002060">
                <a:alpha val="38000"/>
              </a:srgbClr>
            </a:outerShdw>
          </a:effectLst>
        </p:spPr>
        <p:txBody>
          <a:bodyPr vert="horz" wrap="none" lIns="91440" tIns="45720" rIns="91440" bIns="45720" numCol="1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4000" b="0" i="0" u="none" strike="noStrike" cap="none" normalizeH="0" baseline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ea typeface="SimSun" panose="02010600030101010101" pitchFamily="2" charset="-122"/>
              </a:rPr>
              <a:t>II. Cucumber - Gherkin.</a:t>
            </a:r>
            <a:endParaRPr kumimoji="0" lang="en-US" altLang="zh-CN" sz="4000" b="0" i="0" u="none" strike="noStrike" cap="none" normalizeH="0" baseline="0" smtClean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09600" y="1120140"/>
            <a:ext cx="10972800" cy="43370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1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2. Gherkin - Elements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579755" y="1757045"/>
            <a:ext cx="11030585" cy="33832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>
                <a:solidFill>
                  <a:srgbClr val="00B0F0"/>
                </a:solidFill>
              </a:rPr>
              <a:t>When </a:t>
            </a:r>
            <a:r>
              <a:rPr lang="en-US" sz="2400">
                <a:solidFill>
                  <a:schemeClr val="tx1"/>
                </a:solidFill>
              </a:rPr>
              <a:t>steps is to describe the key action the user performs</a:t>
            </a:r>
            <a:endParaRPr lang="en-US" sz="2400">
              <a:solidFill>
                <a:schemeClr val="tx1"/>
              </a:solidFill>
            </a:endParaRPr>
          </a:p>
          <a:p>
            <a:endParaRPr lang="en-US" sz="2400">
              <a:solidFill>
                <a:schemeClr val="tx1"/>
              </a:solidFill>
            </a:endParaRPr>
          </a:p>
          <a:p>
            <a:r>
              <a:rPr lang="en-US" sz="2400">
                <a:solidFill>
                  <a:srgbClr val="00B0F0"/>
                </a:solidFill>
              </a:rPr>
              <a:t>Then </a:t>
            </a:r>
            <a:r>
              <a:rPr lang="en-US" sz="2400">
                <a:solidFill>
                  <a:schemeClr val="tx1"/>
                </a:solidFill>
              </a:rPr>
              <a:t>steps is to observe outcomes. The observations should be related to the business value/benefit in your feature description. The observations should inspect the output of the system (a report, user interface, message, command output)</a:t>
            </a:r>
            <a:endParaRPr lang="en-US" sz="2400">
              <a:solidFill>
                <a:schemeClr val="tx1"/>
              </a:solidFill>
            </a:endParaRPr>
          </a:p>
          <a:p>
            <a:endParaRPr lang="en-US" sz="2400">
              <a:solidFill>
                <a:schemeClr val="tx1"/>
              </a:solidFill>
            </a:endParaRPr>
          </a:p>
          <a:p>
            <a:r>
              <a:rPr lang="en-US" sz="2400">
                <a:solidFill>
                  <a:srgbClr val="00B0F0"/>
                </a:solidFill>
              </a:rPr>
              <a:t>And, But </a:t>
            </a:r>
            <a:r>
              <a:rPr lang="en-US" sz="2400">
                <a:solidFill>
                  <a:schemeClr val="tx1"/>
                </a:solidFill>
              </a:rPr>
              <a:t>is writed if your scenario have several Given, When or Then steps, allowing your Scenario to read more fluently</a:t>
            </a:r>
            <a:endParaRPr lang="en-US" sz="24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10" name="Flowchart: Process 9"/>
          <p:cNvSpPr/>
          <p:nvPr/>
        </p:nvSpPr>
        <p:spPr>
          <a:xfrm>
            <a:off x="609600" y="190500"/>
            <a:ext cx="10972800" cy="784860"/>
          </a:xfrm>
          <a:prstGeom prst="flowChartProcess">
            <a:avLst/>
          </a:prstGeom>
          <a:gradFill rotWithShape="0">
            <a:gsLst>
              <a:gs pos="0">
                <a:srgbClr val="012D86"/>
              </a:gs>
              <a:gs pos="100000">
                <a:srgbClr val="0E2557"/>
              </a:gs>
            </a:gsLst>
            <a:lin ang="5400000" scaled="0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50800" dir="5400000" algn="ctr" rotWithShape="0">
              <a:srgbClr val="002060">
                <a:alpha val="38000"/>
              </a:srgbClr>
            </a:outerShdw>
          </a:effectLst>
        </p:spPr>
        <p:txBody>
          <a:bodyPr vert="horz" wrap="none" lIns="91440" tIns="45720" rIns="91440" bIns="45720" numCol="1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4000" b="0" i="0" u="none" strike="noStrike" cap="none" normalizeH="0" baseline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ea typeface="SimSun" panose="02010600030101010101" pitchFamily="2" charset="-122"/>
              </a:rPr>
              <a:t>II. Cucumber - Gherkin.</a:t>
            </a:r>
            <a:endParaRPr kumimoji="0" lang="en-US" altLang="zh-CN" sz="4000" b="0" i="0" u="none" strike="noStrike" cap="none" normalizeH="0" baseline="0" smtClean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09600" y="1120140"/>
            <a:ext cx="10972800" cy="43370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1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2. Gherkin - Elements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579755" y="1757045"/>
            <a:ext cx="11030585" cy="26517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>
                <a:solidFill>
                  <a:schemeClr val="tx1"/>
                </a:solidFill>
              </a:rPr>
              <a:t>Background: ...</a:t>
            </a:r>
            <a:endParaRPr lang="en-US" sz="2400">
              <a:solidFill>
                <a:schemeClr val="tx1"/>
              </a:solidFill>
            </a:endParaRPr>
          </a:p>
          <a:p>
            <a:endParaRPr lang="en-US" sz="2400">
              <a:solidFill>
                <a:schemeClr val="tx1"/>
              </a:solidFill>
            </a:endParaRPr>
          </a:p>
          <a:p>
            <a:r>
              <a:rPr lang="en-US" sz="2400">
                <a:solidFill>
                  <a:schemeClr val="tx1"/>
                </a:solidFill>
              </a:rPr>
              <a:t>Scenario Outline:...</a:t>
            </a:r>
            <a:endParaRPr lang="en-US" sz="2400">
              <a:solidFill>
                <a:schemeClr val="tx1"/>
              </a:solidFill>
            </a:endParaRPr>
          </a:p>
          <a:p>
            <a:endParaRPr lang="en-US" sz="2400">
              <a:solidFill>
                <a:schemeClr val="tx1"/>
              </a:solidFill>
            </a:endParaRPr>
          </a:p>
          <a:p>
            <a:r>
              <a:rPr lang="en-US" sz="2400">
                <a:solidFill>
                  <a:schemeClr val="tx1"/>
                </a:solidFill>
              </a:rPr>
              <a:t>Tables:</a:t>
            </a:r>
            <a:endParaRPr lang="en-US" sz="2400">
              <a:solidFill>
                <a:schemeClr val="tx1"/>
              </a:solidFill>
            </a:endParaRPr>
          </a:p>
          <a:p>
            <a:endParaRPr lang="en-US" sz="2400">
              <a:solidFill>
                <a:schemeClr val="tx1"/>
              </a:solidFill>
            </a:endParaRPr>
          </a:p>
          <a:p>
            <a:r>
              <a:rPr lang="en-US" sz="2400">
                <a:solidFill>
                  <a:schemeClr val="tx1"/>
                </a:solidFill>
              </a:rPr>
              <a:t>Tabs:....</a:t>
            </a:r>
            <a:endParaRPr lang="en-US" sz="24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10" name="Flowchart: Process 9"/>
          <p:cNvSpPr/>
          <p:nvPr/>
        </p:nvSpPr>
        <p:spPr>
          <a:xfrm>
            <a:off x="609600" y="190500"/>
            <a:ext cx="10972800" cy="784860"/>
          </a:xfrm>
          <a:prstGeom prst="flowChartProcess">
            <a:avLst/>
          </a:prstGeom>
          <a:gradFill rotWithShape="0">
            <a:gsLst>
              <a:gs pos="0">
                <a:srgbClr val="012D86"/>
              </a:gs>
              <a:gs pos="100000">
                <a:srgbClr val="0E2557"/>
              </a:gs>
            </a:gsLst>
            <a:lin ang="5400000" scaled="0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50800" dir="5400000" algn="ctr" rotWithShape="0">
              <a:srgbClr val="002060">
                <a:alpha val="38000"/>
              </a:srgbClr>
            </a:outerShdw>
          </a:effectLst>
        </p:spPr>
        <p:txBody>
          <a:bodyPr vert="horz" wrap="none" lIns="91440" tIns="45720" rIns="91440" bIns="45720" numCol="1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4000" b="0" i="0" u="none" strike="noStrike" cap="none" normalizeH="0" baseline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ea typeface="SimSun" panose="02010600030101010101" pitchFamily="2" charset="-122"/>
              </a:rPr>
              <a:t>II. Cucumber - Gherkin.</a:t>
            </a:r>
            <a:endParaRPr kumimoji="0" lang="en-US" altLang="zh-CN" sz="4000" b="0" i="0" u="none" strike="noStrike" cap="none" normalizeH="0" baseline="0" smtClean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08330" y="1149350"/>
            <a:ext cx="10972800" cy="43370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1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3. Gherkin - Generating Steps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07695" y="1694815"/>
            <a:ext cx="4485005" cy="398208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/>
          <a:p>
            <a:pPr marL="0" indent="0" algn="l">
              <a:buNone/>
            </a:pPr>
            <a:endParaRPr lang="en-US" sz="1600" b="1" dirty="0" smtClean="0">
              <a:sym typeface="+mn-ea"/>
            </a:endParaRPr>
          </a:p>
          <a:p>
            <a:pPr marL="0" indent="0" algn="l">
              <a:buNone/>
            </a:pPr>
            <a:endParaRPr lang="en-US" sz="1600" b="1" dirty="0" smtClean="0">
              <a:sym typeface="+mn-ea"/>
            </a:endParaRPr>
          </a:p>
          <a:p>
            <a:pPr marL="0" indent="0" algn="l">
              <a:buNone/>
            </a:pPr>
            <a:r>
              <a:rPr lang="en-US" sz="1600" b="1" dirty="0" smtClean="0">
                <a:sym typeface="+mn-ea"/>
              </a:rPr>
              <a:t>Precondition</a:t>
            </a:r>
            <a:endParaRPr lang="en-US" sz="1600" b="1" dirty="0" smtClean="0">
              <a:sym typeface="+mn-ea"/>
            </a:endParaRPr>
          </a:p>
          <a:p>
            <a:pPr marL="0" indent="0" algn="l">
              <a:buNone/>
            </a:pPr>
            <a:r>
              <a:rPr lang="en-US" sz="1600" dirty="0" smtClean="0">
                <a:sym typeface="+mn-ea"/>
              </a:rPr>
              <a:t> Logged in successfully using </a:t>
            </a:r>
            <a:endParaRPr lang="en-US" sz="1600" dirty="0" smtClean="0">
              <a:sym typeface="+mn-ea"/>
            </a:endParaRPr>
          </a:p>
          <a:p>
            <a:pPr marL="0" indent="0" algn="l">
              <a:buNone/>
            </a:pPr>
            <a:r>
              <a:rPr lang="en-US" sz="1600" dirty="0" smtClean="0">
                <a:sym typeface="+mn-ea"/>
                <a:hlinkClick r:id="rId1"/>
              </a:rPr>
              <a:t>admin@yopmail.com</a:t>
            </a:r>
            <a:r>
              <a:rPr lang="en-US" sz="1600" dirty="0" smtClean="0">
                <a:sym typeface="+mn-ea"/>
              </a:rPr>
              <a:t> account</a:t>
            </a:r>
            <a:endParaRPr lang="en-US" sz="1600" dirty="0" smtClean="0"/>
          </a:p>
          <a:p>
            <a:pPr marL="0" indent="0" algn="l">
              <a:buNone/>
            </a:pPr>
            <a:r>
              <a:rPr lang="en-US" sz="1600" b="1" dirty="0" smtClean="0">
                <a:sym typeface="+mn-ea"/>
              </a:rPr>
              <a:t>Steps</a:t>
            </a:r>
            <a:endParaRPr lang="en-US" sz="1600" b="1" dirty="0" smtClean="0">
              <a:sym typeface="+mn-ea"/>
            </a:endParaRPr>
          </a:p>
          <a:p>
            <a:pPr marL="514350" indent="-514350" algn="l">
              <a:buAutoNum type="arabicPeriod"/>
            </a:pPr>
            <a:r>
              <a:rPr lang="en-US" sz="1600" dirty="0" smtClean="0">
                <a:sym typeface="+mn-ea"/>
              </a:rPr>
              <a:t>Click on Manage menu</a:t>
            </a:r>
            <a:endParaRPr lang="en-US" sz="1600" dirty="0" smtClean="0"/>
          </a:p>
          <a:p>
            <a:pPr marL="514350" indent="-514350" algn="l">
              <a:buAutoNum type="arabicPeriod"/>
            </a:pPr>
            <a:r>
              <a:rPr lang="en-US" sz="1600" dirty="0" smtClean="0">
                <a:sym typeface="+mn-ea"/>
              </a:rPr>
              <a:t>Click on Manage Administrators menu</a:t>
            </a:r>
            <a:endParaRPr lang="en-US" sz="1600" dirty="0" smtClean="0"/>
          </a:p>
          <a:p>
            <a:pPr marL="514350" indent="-514350" algn="l">
              <a:buAutoNum type="arabicPeriod"/>
            </a:pPr>
            <a:r>
              <a:rPr lang="en-US" sz="1600" dirty="0" smtClean="0">
                <a:sym typeface="+mn-ea"/>
              </a:rPr>
              <a:t>Click on Add User button</a:t>
            </a:r>
            <a:endParaRPr lang="en-US" sz="1600" dirty="0" smtClean="0"/>
          </a:p>
          <a:p>
            <a:pPr marL="514350" indent="-514350" algn="l">
              <a:buAutoNum type="arabicPeriod"/>
            </a:pPr>
            <a:r>
              <a:rPr lang="en-US" sz="1600" dirty="0" smtClean="0">
                <a:sym typeface="+mn-ea"/>
              </a:rPr>
              <a:t>Input First Name, Last Name and Email.</a:t>
            </a:r>
            <a:endParaRPr lang="en-US" sz="1600" dirty="0" smtClean="0"/>
          </a:p>
          <a:p>
            <a:pPr marL="514350" indent="-514350" algn="l">
              <a:buAutoNum type="arabicPeriod"/>
            </a:pPr>
            <a:r>
              <a:rPr lang="en-US" sz="1600" dirty="0" smtClean="0">
                <a:sym typeface="+mn-ea"/>
              </a:rPr>
              <a:t>Click on Save button</a:t>
            </a:r>
            <a:endParaRPr lang="en-US" sz="1600" dirty="0" smtClean="0">
              <a:sym typeface="+mn-ea"/>
            </a:endParaRPr>
          </a:p>
          <a:p>
            <a:pPr indent="0" algn="l">
              <a:buNone/>
            </a:pPr>
            <a:endParaRPr lang="en-US" sz="1600"/>
          </a:p>
          <a:p>
            <a:pPr marL="0" indent="0" algn="l">
              <a:buNone/>
            </a:pPr>
            <a:r>
              <a:rPr lang="en-US" sz="1600" b="1" dirty="0" smtClean="0">
                <a:sym typeface="+mn-ea"/>
              </a:rPr>
              <a:t>Expected</a:t>
            </a:r>
            <a:endParaRPr lang="en-US" sz="1600" b="1" dirty="0" smtClean="0">
              <a:sym typeface="+mn-ea"/>
            </a:endParaRPr>
          </a:p>
          <a:p>
            <a:pPr marL="0" indent="0" algn="l">
              <a:buNone/>
            </a:pPr>
            <a:r>
              <a:rPr lang="en-US" sz="1600" dirty="0" smtClean="0">
                <a:sym typeface="+mn-ea"/>
              </a:rPr>
              <a:t>5.1   System navigates to Manage </a:t>
            </a:r>
            <a:endParaRPr lang="en-US" sz="1600" dirty="0" smtClean="0">
              <a:sym typeface="+mn-ea"/>
            </a:endParaRPr>
          </a:p>
          <a:p>
            <a:pPr marL="0" indent="0" algn="l">
              <a:buNone/>
            </a:pPr>
            <a:r>
              <a:rPr lang="en-US" sz="1600" dirty="0" smtClean="0">
                <a:sym typeface="+mn-ea"/>
              </a:rPr>
              <a:t>System Administrators screen.</a:t>
            </a:r>
            <a:endParaRPr lang="en-US" sz="1600" dirty="0" smtClean="0">
              <a:sym typeface="+mn-ea"/>
            </a:endParaRPr>
          </a:p>
          <a:p>
            <a:pPr marL="0" indent="0" algn="l">
              <a:buNone/>
            </a:pPr>
            <a:r>
              <a:rPr lang="en-US" sz="1600" dirty="0" smtClean="0">
                <a:sym typeface="+mn-ea"/>
              </a:rPr>
              <a:t>5.2   User is displayed on screen.</a:t>
            </a:r>
            <a:endParaRPr lang="en-US" sz="1600" dirty="0"/>
          </a:p>
          <a:p>
            <a:pPr indent="0" algn="l">
              <a:buNone/>
            </a:pPr>
            <a:endParaRPr lang="en-US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718175" y="1694815"/>
            <a:ext cx="5864225" cy="398208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600" smtClean="0">
                <a:ln>
                  <a:noFill/>
                </a:ln>
                <a:solidFill>
                  <a:srgbClr val="92D050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  <a:sym typeface="+mn-ea"/>
              </a:rPr>
              <a:t>Scenario</a:t>
            </a:r>
            <a:r>
              <a:rPr lang="zh-CN" altLang="en-US" sz="1600" smtClean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  <a:sym typeface="+mn-ea"/>
              </a:rPr>
              <a:t>: </a:t>
            </a:r>
            <a:r>
              <a:rPr lang="zh-CN" altLang="en-US" sz="160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  <a:sym typeface="+mn-ea"/>
              </a:rPr>
              <a:t>Create user normally</a:t>
            </a:r>
            <a:endParaRPr kumimoji="0" lang="zh-CN" altLang="en-US" sz="1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600" smtClean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  <a:sym typeface="+mn-ea"/>
              </a:rPr>
              <a:t>Given</a:t>
            </a:r>
            <a:r>
              <a:rPr lang="zh-CN" altLang="en-US" sz="160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  <a:sym typeface="+mn-ea"/>
              </a:rPr>
              <a:t> The user login site by "admin@yopmail.com" </a:t>
            </a:r>
            <a:endParaRPr kumimoji="0" lang="zh-CN" altLang="en-US" sz="1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60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  <a:sym typeface="+mn-ea"/>
              </a:rPr>
              <a:t>         and "Voyen!1412" successfully</a:t>
            </a:r>
            <a:endParaRPr kumimoji="0" lang="zh-CN" altLang="en-US" sz="1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600" smtClean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  <a:sym typeface="+mn-ea"/>
              </a:rPr>
              <a:t>When</a:t>
            </a:r>
            <a:r>
              <a:rPr lang="zh-CN" altLang="en-US" sz="160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  <a:sym typeface="+mn-ea"/>
              </a:rPr>
              <a:t> Click on Manage menu.</a:t>
            </a:r>
            <a:endParaRPr kumimoji="0" lang="zh-CN" altLang="en-US" sz="1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600" smtClean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  <a:sym typeface="+mn-ea"/>
              </a:rPr>
              <a:t>And</a:t>
            </a:r>
            <a:r>
              <a:rPr lang="zh-CN" altLang="en-US" sz="160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  <a:sym typeface="+mn-ea"/>
              </a:rPr>
              <a:t> Click on Manage Administrators menu.</a:t>
            </a:r>
            <a:endParaRPr kumimoji="0" lang="zh-CN" altLang="en-US" sz="1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600" smtClean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  <a:sym typeface="+mn-ea"/>
              </a:rPr>
              <a:t>And</a:t>
            </a:r>
            <a:r>
              <a:rPr lang="zh-CN" altLang="en-US" sz="160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  <a:sym typeface="+mn-ea"/>
              </a:rPr>
              <a:t> Click on Add User button.</a:t>
            </a:r>
            <a:endParaRPr kumimoji="0" lang="zh-CN" altLang="en-US" sz="1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600" smtClean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  <a:sym typeface="+mn-ea"/>
              </a:rPr>
              <a:t>And</a:t>
            </a:r>
            <a:r>
              <a:rPr lang="zh-CN" altLang="en-US" sz="160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  <a:sym typeface="+mn-ea"/>
              </a:rPr>
              <a:t> Input First Name is "Truyen", Last Name is "Kieu" </a:t>
            </a:r>
            <a:endParaRPr kumimoji="0" lang="zh-CN" altLang="en-US" sz="1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60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  <a:sym typeface="+mn-ea"/>
              </a:rPr>
              <a:t>        and Email is "truyen.kieu.02@yopmail.com".</a:t>
            </a:r>
            <a:endParaRPr kumimoji="0" lang="zh-CN" altLang="en-US" sz="1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600" smtClean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  <a:sym typeface="+mn-ea"/>
              </a:rPr>
              <a:t>And</a:t>
            </a:r>
            <a:r>
              <a:rPr lang="zh-CN" altLang="en-US" sz="160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  <a:sym typeface="+mn-ea"/>
              </a:rPr>
              <a:t> Click on Save button</a:t>
            </a:r>
            <a:endParaRPr kumimoji="0" lang="zh-CN" altLang="en-US" sz="1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600" smtClean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  <a:sym typeface="+mn-ea"/>
              </a:rPr>
              <a:t>Then</a:t>
            </a:r>
            <a:r>
              <a:rPr lang="zh-CN" altLang="en-US" sz="160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  <a:sym typeface="+mn-ea"/>
              </a:rPr>
              <a:t> System should navigate to </a:t>
            </a:r>
            <a:endParaRPr lang="zh-CN" altLang="en-US" sz="160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60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  <a:sym typeface="+mn-ea"/>
              </a:rPr>
              <a:t>        "Manage System Administrators" screen.</a:t>
            </a:r>
            <a:endParaRPr kumimoji="0" lang="zh-CN" altLang="en-US" sz="1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600" smtClean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  <a:sym typeface="+mn-ea"/>
              </a:rPr>
              <a:t>And</a:t>
            </a:r>
            <a:r>
              <a:rPr lang="zh-CN" altLang="en-US" sz="160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  <a:sym typeface="+mn-ea"/>
              </a:rPr>
              <a:t> "truyen.kieu.02@yopmail.com" should be </a:t>
            </a:r>
            <a:endParaRPr kumimoji="0" lang="zh-CN" altLang="en-US" sz="1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60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  <a:sym typeface="+mn-ea"/>
              </a:rPr>
              <a:t>shown on screen.</a:t>
            </a:r>
            <a:endParaRPr kumimoji="0" lang="zh-CN" altLang="en-US" sz="1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9" name="Right Arrow 8"/>
          <p:cNvSpPr/>
          <p:nvPr/>
        </p:nvSpPr>
        <p:spPr>
          <a:xfrm>
            <a:off x="5120005" y="3428365"/>
            <a:ext cx="568960" cy="379730"/>
          </a:xfrm>
          <a:prstGeom prst="rightArrow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10" name="Flowchart: Process 9"/>
          <p:cNvSpPr/>
          <p:nvPr/>
        </p:nvSpPr>
        <p:spPr>
          <a:xfrm>
            <a:off x="609600" y="190500"/>
            <a:ext cx="10972800" cy="784860"/>
          </a:xfrm>
          <a:prstGeom prst="flowChartProcess">
            <a:avLst/>
          </a:prstGeom>
          <a:gradFill rotWithShape="0">
            <a:gsLst>
              <a:gs pos="0">
                <a:srgbClr val="012D86"/>
              </a:gs>
              <a:gs pos="100000">
                <a:srgbClr val="0E2557"/>
              </a:gs>
            </a:gsLst>
            <a:lin ang="5400000" scaled="0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50800" dir="5400000" algn="ctr" rotWithShape="0">
              <a:srgbClr val="002060">
                <a:alpha val="38000"/>
              </a:srgbClr>
            </a:outerShdw>
          </a:effectLst>
        </p:spPr>
        <p:txBody>
          <a:bodyPr vert="horz" wrap="none" lIns="91440" tIns="45720" rIns="91440" bIns="45720" numCol="1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4000" b="0" i="0" u="none" strike="noStrike" cap="none" normalizeH="0" baseline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ea typeface="SimSun" panose="02010600030101010101" pitchFamily="2" charset="-122"/>
              </a:rPr>
              <a:t>II. Cucumber - Gherkin.</a:t>
            </a:r>
            <a:endParaRPr kumimoji="0" lang="en-US" altLang="zh-CN" sz="4000" b="0" i="0" u="none" strike="noStrike" cap="none" normalizeH="0" baseline="0" smtClean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08330" y="1149350"/>
            <a:ext cx="10972800" cy="43370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1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3. Gherkin - Generating Steps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22300" y="1965325"/>
            <a:ext cx="11000105" cy="362966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mtClean="0">
              <a:ln>
                <a:noFill/>
              </a:ln>
              <a:solidFill>
                <a:srgbClr val="00B0F0"/>
              </a:solidFill>
              <a:effectLst/>
              <a:latin typeface="Arial" panose="020B0604020202020204" pitchFamily="34" charset="0"/>
              <a:ea typeface="SimSun" panose="02010600030101010101" pitchFamily="2" charset="-122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mtClean="0">
              <a:ln>
                <a:noFill/>
              </a:ln>
              <a:solidFill>
                <a:srgbClr val="00B0F0"/>
              </a:solidFill>
              <a:effectLst/>
              <a:latin typeface="Arial" panose="020B0604020202020204" pitchFamily="34" charset="0"/>
              <a:ea typeface="SimSun" panose="02010600030101010101" pitchFamily="2" charset="-122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mtClean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  <a:sym typeface="+mn-ea"/>
              </a:rPr>
              <a:t>Given</a:t>
            </a:r>
            <a:r>
              <a:rPr lang="zh-CN" altLang="en-US" smtClean="0">
                <a:ln>
                  <a:noFill/>
                </a:ln>
                <a:effectLst/>
                <a:latin typeface="Arial" panose="020B0604020202020204" pitchFamily="34" charset="0"/>
                <a:ea typeface="SimSun" panose="02010600030101010101" pitchFamily="2" charset="-122"/>
                <a:sym typeface="+mn-ea"/>
              </a:rPr>
              <a:t> The user login site by "admin@yopmail.com"  and "Voyen!1412" successfully</a:t>
            </a:r>
            <a:endParaRPr lang="zh-CN" altLang="en-US" smtClean="0">
              <a:ln>
                <a:noFill/>
              </a:ln>
              <a:effectLst/>
              <a:latin typeface="Arial" panose="020B0604020202020204" pitchFamily="34" charset="0"/>
              <a:ea typeface="SimSun" panose="02010600030101010101" pitchFamily="2" charset="-122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mtClean="0">
              <a:ln>
                <a:noFill/>
              </a:ln>
              <a:effectLst/>
              <a:latin typeface="Arial" panose="020B0604020202020204" pitchFamily="34" charset="0"/>
              <a:ea typeface="SimSun" panose="02010600030101010101" pitchFamily="2" charset="-122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mtClean="0">
              <a:ln>
                <a:noFill/>
              </a:ln>
              <a:effectLst/>
              <a:latin typeface="Arial" panose="020B0604020202020204" pitchFamily="34" charset="0"/>
              <a:ea typeface="SimSun" panose="02010600030101010101" pitchFamily="2" charset="-122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>
                <a:sym typeface="+mn-ea"/>
              </a:rPr>
              <a:t>@Given("^The user login site by \"([^\"]*)\" and \"([^\"]*)\" successfully$")</a:t>
            </a:r>
            <a:endParaRPr lang="en-US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>
                <a:sym typeface="+mn-ea"/>
              </a:rPr>
              <a:t>public void the_user_login_site_by_and_successfully(String email, String password) throws Exception {</a:t>
            </a:r>
            <a:endParaRPr lang="en-US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>
                <a:sym typeface="+mn-ea"/>
              </a:rPr>
              <a:t>	loginStep.open_login_page();</a:t>
            </a:r>
            <a:endParaRPr lang="en-US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>
                <a:sym typeface="+mn-ea"/>
              </a:rPr>
              <a:t>	loginStep.input_email(email);</a:t>
            </a:r>
            <a:endParaRPr lang="en-US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>
                <a:sym typeface="+mn-ea"/>
              </a:rPr>
              <a:t>	loginStep.input_password(password);</a:t>
            </a:r>
            <a:endParaRPr lang="en-US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>
                <a:sym typeface="+mn-ea"/>
              </a:rPr>
              <a:t>	loginStep.click_Login_button();</a:t>
            </a:r>
            <a:endParaRPr lang="en-US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>
                <a:sym typeface="+mn-ea"/>
              </a:rPr>
              <a:t>		</a:t>
            </a:r>
            <a:endParaRPr lang="en-US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>
                <a:sym typeface="+mn-ea"/>
              </a:rPr>
              <a:t>}</a:t>
            </a:r>
            <a:endParaRPr lang="en-US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11" name="Down Arrow 10"/>
          <p:cNvSpPr/>
          <p:nvPr/>
        </p:nvSpPr>
        <p:spPr>
          <a:xfrm>
            <a:off x="5011420" y="2561590"/>
            <a:ext cx="908050" cy="528320"/>
          </a:xfrm>
          <a:prstGeom prst="downArrow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10" name="Flowchart: Process 9"/>
          <p:cNvSpPr/>
          <p:nvPr/>
        </p:nvSpPr>
        <p:spPr>
          <a:xfrm>
            <a:off x="609600" y="190500"/>
            <a:ext cx="10972800" cy="784860"/>
          </a:xfrm>
          <a:prstGeom prst="flowChartProcess">
            <a:avLst/>
          </a:prstGeom>
          <a:gradFill rotWithShape="0">
            <a:gsLst>
              <a:gs pos="0">
                <a:srgbClr val="012D86"/>
              </a:gs>
              <a:gs pos="100000">
                <a:srgbClr val="0E2557"/>
              </a:gs>
            </a:gsLst>
            <a:lin ang="5400000" scaled="0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50800" dir="5400000" algn="ctr" rotWithShape="0">
              <a:srgbClr val="002060">
                <a:alpha val="38000"/>
              </a:srgbClr>
            </a:outerShdw>
          </a:effectLst>
        </p:spPr>
        <p:txBody>
          <a:bodyPr vert="horz" wrap="none" lIns="91440" tIns="45720" rIns="91440" bIns="45720" numCol="1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4000" b="0" i="0" u="none" strike="noStrike" cap="none" normalizeH="0" baseline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ea typeface="SimSun" panose="02010600030101010101" pitchFamily="2" charset="-122"/>
              </a:rPr>
              <a:t>II. Cucumber - Gherkin.</a:t>
            </a:r>
            <a:endParaRPr kumimoji="0" lang="en-US" altLang="zh-CN" sz="4000" b="0" i="0" u="none" strike="noStrike" cap="none" normalizeH="0" baseline="0" smtClean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08330" y="1149350"/>
            <a:ext cx="10972800" cy="43370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1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3. Gherkin - Generating Steps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22300" y="2073910"/>
            <a:ext cx="10918825" cy="260096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mtClean="0">
              <a:ln>
                <a:noFill/>
              </a:ln>
              <a:solidFill>
                <a:srgbClr val="00B0F0"/>
              </a:solidFill>
              <a:effectLst/>
              <a:latin typeface="Arial" panose="020B0604020202020204" pitchFamily="34" charset="0"/>
              <a:ea typeface="SimSun" panose="02010600030101010101" pitchFamily="2" charset="-122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mtClean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  <a:sym typeface="+mn-ea"/>
              </a:rPr>
              <a:t>When</a:t>
            </a:r>
            <a:r>
              <a:rPr lang="zh-CN" altLang="en-US" smtClean="0">
                <a:ln>
                  <a:noFill/>
                </a:ln>
                <a:effectLst/>
                <a:latin typeface="Arial" panose="020B0604020202020204" pitchFamily="34" charset="0"/>
                <a:ea typeface="SimSun" panose="02010600030101010101" pitchFamily="2" charset="-122"/>
                <a:sym typeface="+mn-ea"/>
              </a:rPr>
              <a:t> Click on Manage menu.</a:t>
            </a:r>
            <a:endParaRPr lang="zh-CN" altLang="en-US" smtClean="0">
              <a:ln>
                <a:noFill/>
              </a:ln>
              <a:effectLst/>
              <a:latin typeface="Arial" panose="020B0604020202020204" pitchFamily="34" charset="0"/>
              <a:ea typeface="SimSun" panose="02010600030101010101" pitchFamily="2" charset="-122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mtClean="0">
              <a:ln>
                <a:noFill/>
              </a:ln>
              <a:effectLst/>
              <a:latin typeface="Arial" panose="020B0604020202020204" pitchFamily="34" charset="0"/>
              <a:ea typeface="SimSun" panose="02010600030101010101" pitchFamily="2" charset="-122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mtClean="0">
              <a:ln>
                <a:noFill/>
              </a:ln>
              <a:effectLst/>
              <a:latin typeface="Arial" panose="020B0604020202020204" pitchFamily="34" charset="0"/>
              <a:ea typeface="SimSun" panose="02010600030101010101" pitchFamily="2" charset="-122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mtClean="0">
              <a:ln>
                <a:noFill/>
              </a:ln>
              <a:effectLst/>
              <a:latin typeface="Arial" panose="020B0604020202020204" pitchFamily="34" charset="0"/>
              <a:ea typeface="SimSun" panose="02010600030101010101" pitchFamily="2" charset="-122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mtClean="0">
                <a:ln>
                  <a:noFill/>
                </a:ln>
                <a:effectLst/>
                <a:latin typeface="Arial" panose="020B0604020202020204" pitchFamily="34" charset="0"/>
                <a:ea typeface="SimSun" panose="02010600030101010101" pitchFamily="2" charset="-122"/>
                <a:sym typeface="+mn-ea"/>
              </a:rPr>
              <a:t>@When("^Click on Manage menu\\.$")</a:t>
            </a:r>
            <a:endParaRPr lang="zh-CN" altLang="en-US" smtClean="0">
              <a:ln>
                <a:noFill/>
              </a:ln>
              <a:effectLst/>
              <a:latin typeface="Arial" panose="020B0604020202020204" pitchFamily="34" charset="0"/>
              <a:ea typeface="SimSun" panose="02010600030101010101" pitchFamily="2" charset="-122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mtClean="0">
                <a:ln>
                  <a:noFill/>
                </a:ln>
                <a:effectLst/>
                <a:latin typeface="Arial" panose="020B0604020202020204" pitchFamily="34" charset="0"/>
                <a:ea typeface="SimSun" panose="02010600030101010101" pitchFamily="2" charset="-122"/>
                <a:sym typeface="+mn-ea"/>
              </a:rPr>
              <a:t>public void click_on_Manage_menu() throws Exception {</a:t>
            </a:r>
            <a:endParaRPr lang="zh-CN" altLang="en-US" smtClean="0">
              <a:ln>
                <a:noFill/>
              </a:ln>
              <a:effectLst/>
              <a:latin typeface="Arial" panose="020B0604020202020204" pitchFamily="34" charset="0"/>
              <a:ea typeface="SimSun" panose="02010600030101010101" pitchFamily="2" charset="-122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mtClean="0">
                <a:ln>
                  <a:noFill/>
                </a:ln>
                <a:effectLst/>
                <a:latin typeface="Arial" panose="020B0604020202020204" pitchFamily="34" charset="0"/>
                <a:ea typeface="SimSun" panose="02010600030101010101" pitchFamily="2" charset="-122"/>
                <a:sym typeface="+mn-ea"/>
              </a:rPr>
              <a:t>	homeStep.open_Manage_page();</a:t>
            </a:r>
            <a:endParaRPr lang="zh-CN" altLang="en-US" smtClean="0">
              <a:ln>
                <a:noFill/>
              </a:ln>
              <a:effectLst/>
              <a:latin typeface="Arial" panose="020B0604020202020204" pitchFamily="34" charset="0"/>
              <a:ea typeface="SimSun" panose="02010600030101010101" pitchFamily="2" charset="-122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mtClean="0">
                <a:ln>
                  <a:noFill/>
                </a:ln>
                <a:effectLst/>
                <a:latin typeface="Arial" panose="020B0604020202020204" pitchFamily="34" charset="0"/>
                <a:ea typeface="SimSun" panose="02010600030101010101" pitchFamily="2" charset="-122"/>
                <a:sym typeface="+mn-ea"/>
              </a:rPr>
              <a:t>}</a:t>
            </a:r>
            <a:endParaRPr lang="zh-CN" altLang="en-US" smtClean="0">
              <a:ln>
                <a:noFill/>
              </a:ln>
              <a:effectLst/>
              <a:latin typeface="Arial" panose="020B0604020202020204" pitchFamily="34" charset="0"/>
              <a:ea typeface="SimSun" panose="02010600030101010101" pitchFamily="2" charset="-122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5" name="Down Arrow 4"/>
          <p:cNvSpPr/>
          <p:nvPr/>
        </p:nvSpPr>
        <p:spPr>
          <a:xfrm>
            <a:off x="3237230" y="2710815"/>
            <a:ext cx="907415" cy="595630"/>
          </a:xfrm>
          <a:prstGeom prst="downArrow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10" name="Flowchart: Process 9"/>
          <p:cNvSpPr/>
          <p:nvPr/>
        </p:nvSpPr>
        <p:spPr>
          <a:xfrm>
            <a:off x="609600" y="190500"/>
            <a:ext cx="10972800" cy="784860"/>
          </a:xfrm>
          <a:prstGeom prst="flowChartProcess">
            <a:avLst/>
          </a:prstGeom>
          <a:gradFill rotWithShape="0">
            <a:gsLst>
              <a:gs pos="0">
                <a:srgbClr val="012D86"/>
              </a:gs>
              <a:gs pos="100000">
                <a:srgbClr val="0E2557"/>
              </a:gs>
            </a:gsLst>
            <a:lin ang="5400000" scaled="0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50800" dir="5400000" algn="ctr" rotWithShape="0">
              <a:srgbClr val="002060">
                <a:alpha val="38000"/>
              </a:srgbClr>
            </a:outerShdw>
          </a:effectLst>
        </p:spPr>
        <p:txBody>
          <a:bodyPr vert="horz" wrap="none" lIns="91440" tIns="45720" rIns="91440" bIns="45720" numCol="1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4000" b="0" i="0" u="none" strike="noStrike" cap="none" normalizeH="0" baseline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ea typeface="SimSun" panose="02010600030101010101" pitchFamily="2" charset="-122"/>
              </a:rPr>
              <a:t>II. Cucumber - Gherkin.</a:t>
            </a:r>
            <a:endParaRPr kumimoji="0" lang="en-US" altLang="zh-CN" sz="4000" b="0" i="0" u="none" strike="noStrike" cap="none" normalizeH="0" baseline="0" smtClean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08330" y="1149350"/>
            <a:ext cx="10972800" cy="43370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1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3. Gherkin - Generating Steps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22300" y="2073910"/>
            <a:ext cx="10918825" cy="260096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mtClean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  <a:sym typeface="+mn-ea"/>
              </a:rPr>
              <a:t>And</a:t>
            </a:r>
            <a:r>
              <a:rPr lang="zh-CN" altLang="en-US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  <a:sym typeface="+mn-ea"/>
              </a:rPr>
              <a:t> Click on Manage Administrators menu.</a:t>
            </a:r>
            <a:endParaRPr lang="zh-CN" altLang="en-US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@When("^Click on Manage Administrators menu\\.$")</a:t>
            </a: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public void click_on_Manage_Administrators_menu() throws Exception {</a:t>
            </a: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	manageStep.open_User_Manage_page();</a:t>
            </a: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}</a:t>
            </a: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5" name="Down Arrow 4"/>
          <p:cNvSpPr/>
          <p:nvPr/>
        </p:nvSpPr>
        <p:spPr>
          <a:xfrm>
            <a:off x="3237230" y="2710815"/>
            <a:ext cx="907415" cy="595630"/>
          </a:xfrm>
          <a:prstGeom prst="downArrow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10" name="Flowchart: Process 9"/>
          <p:cNvSpPr/>
          <p:nvPr/>
        </p:nvSpPr>
        <p:spPr>
          <a:xfrm>
            <a:off x="609600" y="190500"/>
            <a:ext cx="10972800" cy="784860"/>
          </a:xfrm>
          <a:prstGeom prst="flowChartProcess">
            <a:avLst/>
          </a:prstGeom>
          <a:gradFill rotWithShape="0">
            <a:gsLst>
              <a:gs pos="0">
                <a:srgbClr val="012D86"/>
              </a:gs>
              <a:gs pos="100000">
                <a:srgbClr val="0E2557"/>
              </a:gs>
            </a:gsLst>
            <a:lin ang="5400000" scaled="0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50800" dir="5400000" algn="ctr" rotWithShape="0">
              <a:srgbClr val="002060">
                <a:alpha val="38000"/>
              </a:srgbClr>
            </a:outerShdw>
          </a:effectLst>
        </p:spPr>
        <p:txBody>
          <a:bodyPr vert="horz" wrap="none" lIns="91440" tIns="45720" rIns="91440" bIns="45720" numCol="1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4000" b="0" i="0" u="none" strike="noStrike" cap="none" normalizeH="0" baseline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ea typeface="SimSun" panose="02010600030101010101" pitchFamily="2" charset="-122"/>
              </a:rPr>
              <a:t>II. Cucumber - Gherkin.</a:t>
            </a:r>
            <a:endParaRPr kumimoji="0" lang="en-US" altLang="zh-CN" sz="4000" b="0" i="0" u="none" strike="noStrike" cap="none" normalizeH="0" baseline="0" smtClean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08330" y="1149350"/>
            <a:ext cx="10972800" cy="43370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1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3. Gherkin - Generating Steps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22300" y="2073910"/>
            <a:ext cx="10918825" cy="260096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mtClean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  <a:sym typeface="+mn-ea"/>
              </a:rPr>
              <a:t>And</a:t>
            </a:r>
            <a:r>
              <a:rPr lang="zh-CN" altLang="en-US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  <a:sym typeface="+mn-ea"/>
              </a:rPr>
              <a:t> Click on Add User button.</a:t>
            </a:r>
            <a:endParaRPr lang="zh-CN" altLang="en-US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@When("^Click on Add User button\\.$")</a:t>
            </a: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public void click_on_Add_User_button() throws Exception {</a:t>
            </a: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	userManageStep.click_On_Add_Button();</a:t>
            </a: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}</a:t>
            </a: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5" name="Down Arrow 4"/>
          <p:cNvSpPr/>
          <p:nvPr/>
        </p:nvSpPr>
        <p:spPr>
          <a:xfrm>
            <a:off x="3237230" y="2710815"/>
            <a:ext cx="907415" cy="595630"/>
          </a:xfrm>
          <a:prstGeom prst="downArrow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10" name="Flowchart: Process 9"/>
          <p:cNvSpPr/>
          <p:nvPr/>
        </p:nvSpPr>
        <p:spPr>
          <a:xfrm>
            <a:off x="609600" y="190500"/>
            <a:ext cx="10972800" cy="784860"/>
          </a:xfrm>
          <a:prstGeom prst="flowChartProcess">
            <a:avLst/>
          </a:prstGeom>
          <a:gradFill rotWithShape="0">
            <a:gsLst>
              <a:gs pos="0">
                <a:srgbClr val="012D86"/>
              </a:gs>
              <a:gs pos="100000">
                <a:srgbClr val="0E2557"/>
              </a:gs>
            </a:gsLst>
            <a:lin ang="5400000" scaled="0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50800" dir="5400000" algn="ctr" rotWithShape="0">
              <a:srgbClr val="002060">
                <a:alpha val="38000"/>
              </a:srgbClr>
            </a:outerShdw>
          </a:effectLst>
        </p:spPr>
        <p:txBody>
          <a:bodyPr vert="horz" wrap="none" lIns="91440" tIns="45720" rIns="91440" bIns="45720" numCol="1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4000" b="0" i="0" u="none" strike="noStrike" cap="none" normalizeH="0" baseline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ea typeface="SimSun" panose="02010600030101010101" pitchFamily="2" charset="-122"/>
              </a:rPr>
              <a:t>II. Cucumber - Gherkin.</a:t>
            </a:r>
            <a:endParaRPr kumimoji="0" lang="en-US" altLang="zh-CN" sz="4000" b="0" i="0" u="none" strike="noStrike" cap="none" normalizeH="0" baseline="0" smtClean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08330" y="1149350"/>
            <a:ext cx="10972800" cy="43370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1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3. Gherkin - Generating Steps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22300" y="2073910"/>
            <a:ext cx="10918825" cy="340042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mtClean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  <a:sym typeface="+mn-ea"/>
              </a:rPr>
              <a:t>And</a:t>
            </a:r>
            <a:r>
              <a:rPr lang="zh-CN" altLang="en-US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  <a:sym typeface="+mn-ea"/>
              </a:rPr>
              <a:t> Input First Name is "Truyen", Last Name is "Kieu"  and Email is "truyen.kieu.02@yopmail.com".</a:t>
            </a:r>
            <a:endParaRPr lang="zh-CN" altLang="en-US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@When("^Input First Name is \"([^\"]*)\", Last Name is \"([^\"]*)\" and Email is \"([^\"]*)\"\\.$")</a:t>
            </a: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public void input_First_Name_is_Last_Name_is_and_Email_is(String firstName, String lastName, </a:t>
            </a: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String email) throws Exception {</a:t>
            </a: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	</a:t>
            </a:r>
            <a:r>
              <a:rPr kumimoji="0" lang="zh-CN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manageUserProfileStep.input_FistName(firstName);</a:t>
            </a: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    </a:t>
            </a: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	</a:t>
            </a:r>
            <a:r>
              <a:rPr kumimoji="0" lang="zh-CN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manageUserProfileStep.input_LastName(lastName);</a:t>
            </a: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	manageUserProfileStep.input_Email(email);</a:t>
            </a: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}</a:t>
            </a: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5" name="Down Arrow 4"/>
          <p:cNvSpPr/>
          <p:nvPr/>
        </p:nvSpPr>
        <p:spPr>
          <a:xfrm>
            <a:off x="3237230" y="2710815"/>
            <a:ext cx="907415" cy="595630"/>
          </a:xfrm>
          <a:prstGeom prst="downArrow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10" name="Flowchart: Process 9"/>
          <p:cNvSpPr/>
          <p:nvPr/>
        </p:nvSpPr>
        <p:spPr>
          <a:xfrm>
            <a:off x="609600" y="190500"/>
            <a:ext cx="10972800" cy="784860"/>
          </a:xfrm>
          <a:prstGeom prst="flowChartProcess">
            <a:avLst/>
          </a:prstGeom>
          <a:gradFill rotWithShape="0">
            <a:gsLst>
              <a:gs pos="0">
                <a:srgbClr val="012D86"/>
              </a:gs>
              <a:gs pos="100000">
                <a:srgbClr val="0E2557"/>
              </a:gs>
            </a:gsLst>
            <a:lin ang="5400000" scaled="0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50800" dir="5400000" algn="ctr" rotWithShape="0">
              <a:srgbClr val="002060">
                <a:alpha val="38000"/>
              </a:srgbClr>
            </a:outerShdw>
          </a:effectLst>
        </p:spPr>
        <p:txBody>
          <a:bodyPr vert="horz" wrap="none" lIns="91440" tIns="45720" rIns="91440" bIns="45720" numCol="1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4000" b="0" i="0" u="none" strike="noStrike" cap="none" normalizeH="0" baseline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ea typeface="SimSun" panose="02010600030101010101" pitchFamily="2" charset="-122"/>
              </a:rPr>
              <a:t>II. Cucumber - Gherkin.</a:t>
            </a:r>
            <a:endParaRPr kumimoji="0" lang="en-US" altLang="zh-CN" sz="4000" b="0" i="0" u="none" strike="noStrike" cap="none" normalizeH="0" baseline="0" smtClean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08330" y="1149350"/>
            <a:ext cx="10972800" cy="43370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1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3. Gherkin - Generating Steps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22300" y="2073910"/>
            <a:ext cx="10918825" cy="288607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mtClean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  <a:sym typeface="+mn-ea"/>
              </a:rPr>
              <a:t>And</a:t>
            </a:r>
            <a:r>
              <a:rPr lang="zh-CN" altLang="en-US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  <a:sym typeface="+mn-ea"/>
              </a:rPr>
              <a:t> Click on Save button</a:t>
            </a:r>
            <a:endParaRPr kumimoji="0" lang="zh-CN" altLang="en-US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@When("^Click on Save button$")</a:t>
            </a: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public void click_on_Save_button() throws Exception {</a:t>
            </a: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	manageUserProfileStep.click_On_Save_Button();</a:t>
            </a: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}</a:t>
            </a: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5" name="Down Arrow 4"/>
          <p:cNvSpPr/>
          <p:nvPr/>
        </p:nvSpPr>
        <p:spPr>
          <a:xfrm>
            <a:off x="1936750" y="2806065"/>
            <a:ext cx="907415" cy="595630"/>
          </a:xfrm>
          <a:prstGeom prst="downArrow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10" name="Flowchart: Process 9"/>
          <p:cNvSpPr/>
          <p:nvPr/>
        </p:nvSpPr>
        <p:spPr>
          <a:xfrm>
            <a:off x="609600" y="190500"/>
            <a:ext cx="10972800" cy="784860"/>
          </a:xfrm>
          <a:prstGeom prst="flowChartProcess">
            <a:avLst/>
          </a:prstGeom>
          <a:gradFill rotWithShape="0">
            <a:gsLst>
              <a:gs pos="0">
                <a:srgbClr val="012D86"/>
              </a:gs>
              <a:gs pos="100000">
                <a:srgbClr val="0E2557"/>
              </a:gs>
            </a:gsLst>
            <a:lin ang="5400000" scaled="0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50800" dir="5400000" algn="ctr" rotWithShape="0">
              <a:srgbClr val="002060">
                <a:alpha val="38000"/>
              </a:srgbClr>
            </a:outerShdw>
          </a:effectLst>
        </p:spPr>
        <p:txBody>
          <a:bodyPr vert="horz" wrap="none" lIns="91440" tIns="45720" rIns="91440" bIns="45720" numCol="1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4000" b="0" i="0" u="none" strike="noStrike" cap="none" normalizeH="0" baseline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ea typeface="SimSun" panose="02010600030101010101" pitchFamily="2" charset="-122"/>
              </a:rPr>
              <a:t>II. Cucumber - Gherkin.</a:t>
            </a:r>
            <a:endParaRPr kumimoji="0" lang="en-US" altLang="zh-CN" sz="4000" b="0" i="0" u="none" strike="noStrike" cap="none" normalizeH="0" baseline="0" smtClean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08330" y="1149350"/>
            <a:ext cx="10972800" cy="43370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1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3. Gherkin - Generating Steps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22300" y="2073910"/>
            <a:ext cx="10918825" cy="266890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mtClean="0">
              <a:ln>
                <a:noFill/>
              </a:ln>
              <a:solidFill>
                <a:srgbClr val="00B0F0"/>
              </a:solidFill>
              <a:effectLst/>
              <a:latin typeface="Arial" panose="020B0604020202020204" pitchFamily="34" charset="0"/>
              <a:ea typeface="SimSun" panose="02010600030101010101" pitchFamily="2" charset="-122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mtClean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  <a:sym typeface="+mn-ea"/>
              </a:rPr>
              <a:t>Then</a:t>
            </a:r>
            <a:r>
              <a:rPr lang="zh-CN" altLang="en-US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  <a:sym typeface="+mn-ea"/>
              </a:rPr>
              <a:t> System should navigate to  "Manage System Administrators" screen.</a:t>
            </a:r>
            <a:endParaRPr kumimoji="0" lang="zh-CN" altLang="en-US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@Then("^System should navigate to \"([^\"]*)\" screen\\.$")</a:t>
            </a: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public void system_should_navigate_to_screen(String systemAdminTitle) throws Exception {</a:t>
            </a: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	Assert.assertEquals(userManageStep.get_sysAdminTitle(), systemAdminTitle);</a:t>
            </a: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}</a:t>
            </a: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5" name="Down Arrow 4"/>
          <p:cNvSpPr/>
          <p:nvPr/>
        </p:nvSpPr>
        <p:spPr>
          <a:xfrm>
            <a:off x="4375150" y="2737485"/>
            <a:ext cx="907415" cy="689610"/>
          </a:xfrm>
          <a:prstGeom prst="downArrow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10" name="Flowchart: Process 9"/>
          <p:cNvSpPr/>
          <p:nvPr/>
        </p:nvSpPr>
        <p:spPr>
          <a:xfrm>
            <a:off x="609600" y="190500"/>
            <a:ext cx="10972800" cy="784860"/>
          </a:xfrm>
          <a:prstGeom prst="flowChartProcess">
            <a:avLst/>
          </a:prstGeom>
          <a:gradFill rotWithShape="0">
            <a:gsLst>
              <a:gs pos="0">
                <a:srgbClr val="012D86"/>
              </a:gs>
              <a:gs pos="100000">
                <a:srgbClr val="0E2557"/>
              </a:gs>
            </a:gsLst>
            <a:lin ang="5400000" scaled="0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50800" dir="5400000" algn="ctr" rotWithShape="0">
              <a:srgbClr val="002060">
                <a:alpha val="38000"/>
              </a:srgbClr>
            </a:outerShdw>
          </a:effectLst>
        </p:spPr>
        <p:txBody>
          <a:bodyPr vert="horz" wrap="none" lIns="91440" tIns="45720" rIns="91440" bIns="45720" numCol="1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4000" b="0" i="0" u="none" strike="noStrike" cap="none" normalizeH="0" baseline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ea typeface="SimSun" panose="02010600030101010101" pitchFamily="2" charset="-122"/>
              </a:rPr>
              <a:t>II. Cucumber - Gherkin.</a:t>
            </a:r>
            <a:endParaRPr kumimoji="0" lang="en-US" altLang="zh-CN" sz="4000" b="0" i="0" u="none" strike="noStrike" cap="none" normalizeH="0" baseline="0" smtClean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08330" y="1149350"/>
            <a:ext cx="10972800" cy="43370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1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3. Gherkin - Generating Steps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22300" y="2073910"/>
            <a:ext cx="10918825" cy="266890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mtClean="0">
              <a:ln>
                <a:noFill/>
              </a:ln>
              <a:solidFill>
                <a:srgbClr val="00B0F0"/>
              </a:solidFill>
              <a:effectLst/>
              <a:latin typeface="Arial" panose="020B0604020202020204" pitchFamily="34" charset="0"/>
              <a:ea typeface="SimSun" panose="02010600030101010101" pitchFamily="2" charset="-122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mtClean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  <a:sym typeface="+mn-ea"/>
              </a:rPr>
              <a:t>And</a:t>
            </a:r>
            <a:r>
              <a:rPr lang="zh-CN" altLang="en-US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  <a:sym typeface="+mn-ea"/>
              </a:rPr>
              <a:t> "truyen.kieu.02@yopmail.com" should be shown on screen.</a:t>
            </a:r>
            <a:endParaRPr kumimoji="0" lang="zh-CN" altLang="en-US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@Then("^\"([^\"]*)\" should be shown on screen\\.$")</a:t>
            </a: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public void should_be_shown_on_screen(String email) throws Exception {</a:t>
            </a: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	Assert.assertEquals(userManageStep.get_Email(), email);</a:t>
            </a:r>
            <a:r>
              <a:rPr kumimoji="0" lang="zh-CN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	    </a:t>
            </a: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}</a:t>
            </a: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5" name="Down Arrow 4"/>
          <p:cNvSpPr/>
          <p:nvPr/>
        </p:nvSpPr>
        <p:spPr>
          <a:xfrm>
            <a:off x="4375150" y="2737485"/>
            <a:ext cx="907415" cy="689610"/>
          </a:xfrm>
          <a:prstGeom prst="downArrow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10" name="Flowchart: Process 9"/>
          <p:cNvSpPr/>
          <p:nvPr/>
        </p:nvSpPr>
        <p:spPr>
          <a:xfrm>
            <a:off x="609600" y="190500"/>
            <a:ext cx="10972800" cy="784860"/>
          </a:xfrm>
          <a:prstGeom prst="flowChartProcess">
            <a:avLst/>
          </a:prstGeom>
          <a:gradFill rotWithShape="0">
            <a:gsLst>
              <a:gs pos="0">
                <a:srgbClr val="012D86"/>
              </a:gs>
              <a:gs pos="100000">
                <a:srgbClr val="0E2557"/>
              </a:gs>
            </a:gsLst>
            <a:lin ang="5400000" scaled="0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50800" dir="5400000" algn="ctr" rotWithShape="0">
              <a:srgbClr val="002060">
                <a:alpha val="38000"/>
              </a:srgbClr>
            </a:outerShdw>
          </a:effectLst>
        </p:spPr>
        <p:txBody>
          <a:bodyPr vert="horz" wrap="none" lIns="91440" tIns="45720" rIns="91440" bIns="45720" numCol="1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400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ea typeface="SimSun" panose="02010600030101010101" pitchFamily="2" charset="-122"/>
                <a:sym typeface="+mn-ea"/>
              </a:rPr>
              <a:t>II. Test function by AUTOMATION.</a:t>
            </a:r>
            <a:endParaRPr kumimoji="0" lang="en-US" altLang="zh-CN" sz="4000" b="0" i="0" u="none" strike="noStrike" cap="none" normalizeH="0" baseline="0" smtClean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575945" y="1238250"/>
            <a:ext cx="108331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Define step</a:t>
            </a:r>
            <a:endParaRPr lang="en-US"/>
          </a:p>
        </p:txBody>
      </p:sp>
      <p:pic>
        <p:nvPicPr>
          <p:cNvPr id="6" name="Content Placeholder 5" descr="final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75945" y="1606550"/>
            <a:ext cx="6727190" cy="4953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0" name="Flowchart: Process 9"/>
          <p:cNvSpPr/>
          <p:nvPr/>
        </p:nvSpPr>
        <p:spPr>
          <a:xfrm>
            <a:off x="609600" y="190500"/>
            <a:ext cx="10972800" cy="784860"/>
          </a:xfrm>
          <a:prstGeom prst="flowChartProcess">
            <a:avLst/>
          </a:prstGeom>
          <a:gradFill rotWithShape="0">
            <a:gsLst>
              <a:gs pos="0">
                <a:srgbClr val="012D86"/>
              </a:gs>
              <a:gs pos="100000">
                <a:srgbClr val="0E2557"/>
              </a:gs>
            </a:gsLst>
            <a:lin ang="5400000" scaled="0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50800" dir="5400000" algn="ctr" rotWithShape="0">
              <a:srgbClr val="002060">
                <a:alpha val="38000"/>
              </a:srgbClr>
            </a:outerShdw>
          </a:effectLst>
        </p:spPr>
        <p:txBody>
          <a:bodyPr vert="horz" wrap="none" lIns="91440" tIns="45720" rIns="91440" bIns="45720" numCol="1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360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ea typeface="SimSun" panose="02010600030101010101" pitchFamily="2" charset="-122"/>
                <a:sym typeface="+mn-ea"/>
              </a:rPr>
              <a:t>II. Test function by AUTOMATION.</a:t>
            </a:r>
            <a:endParaRPr kumimoji="0" lang="en-US" altLang="zh-CN" sz="3600" b="0" i="0" u="none" strike="noStrike" cap="none" normalizeH="0" baseline="0" smtClean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Arial" panose="020B0604020202020204" pitchFamily="34" charset="0"/>
              <a:ea typeface="SimSun" panose="02010600030101010101" pitchFamily="2" charset="-122"/>
              <a:sym typeface="+mn-ea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9428480" y="1159510"/>
            <a:ext cx="2153920" cy="4627880"/>
          </a:xfrm>
          <a:prstGeom prst="roundRect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9995535" y="1159510"/>
            <a:ext cx="10198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5">
                    <a:lumMod val="40000"/>
                    <a:lumOff val="60000"/>
                  </a:schemeClr>
                </a:solidFill>
              </a:rPr>
              <a:t>PAGE</a:t>
            </a:r>
            <a:endParaRPr lang="en-US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" name="Flowchart: Terminator 4"/>
          <p:cNvSpPr/>
          <p:nvPr/>
        </p:nvSpPr>
        <p:spPr>
          <a:xfrm>
            <a:off x="9631680" y="1707515"/>
            <a:ext cx="1784985" cy="1070610"/>
          </a:xfrm>
          <a:prstGeom prst="flowChartTerminator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...locator 1....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~ Method 1 ~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6" name="Flowchart: Terminator 5"/>
          <p:cNvSpPr/>
          <p:nvPr/>
        </p:nvSpPr>
        <p:spPr>
          <a:xfrm>
            <a:off x="9631045" y="3046095"/>
            <a:ext cx="1785620" cy="1070610"/>
          </a:xfrm>
          <a:prstGeom prst="flowChartTerminator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...locator 2....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~ Method 2 ~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7" name="Flowchart: Terminator 6"/>
          <p:cNvSpPr/>
          <p:nvPr/>
        </p:nvSpPr>
        <p:spPr>
          <a:xfrm>
            <a:off x="9752965" y="4384040"/>
            <a:ext cx="1663700" cy="1070610"/>
          </a:xfrm>
          <a:prstGeom prst="flowChartTerminator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...locator 3....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~ Method 3~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617845" y="1159510"/>
            <a:ext cx="2162175" cy="4627880"/>
          </a:xfrm>
          <a:prstGeom prst="roundRect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 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9" name="Flowchart: Terminator 8"/>
          <p:cNvSpPr/>
          <p:nvPr/>
        </p:nvSpPr>
        <p:spPr>
          <a:xfrm>
            <a:off x="5832475" y="1995805"/>
            <a:ext cx="1733550" cy="739140"/>
          </a:xfrm>
          <a:prstGeom prst="flowChartTerminator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Step 1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6188710" y="1159510"/>
            <a:ext cx="10198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5">
                    <a:lumMod val="40000"/>
                    <a:lumOff val="60000"/>
                  </a:schemeClr>
                </a:solidFill>
              </a:rPr>
              <a:t>STEP</a:t>
            </a:r>
            <a:endParaRPr lang="en-US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5" name="Flowchart: Terminator 14"/>
          <p:cNvSpPr/>
          <p:nvPr/>
        </p:nvSpPr>
        <p:spPr>
          <a:xfrm>
            <a:off x="5831840" y="3540760"/>
            <a:ext cx="1733550" cy="739140"/>
          </a:xfrm>
          <a:prstGeom prst="flowChartTerminator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Step 2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16" name="Flowchart: Terminator 15"/>
          <p:cNvSpPr/>
          <p:nvPr/>
        </p:nvSpPr>
        <p:spPr>
          <a:xfrm>
            <a:off x="5831840" y="4901565"/>
            <a:ext cx="1733550" cy="739140"/>
          </a:xfrm>
          <a:prstGeom prst="flowChartTerminator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Step 3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437765" y="2487295"/>
            <a:ext cx="2195195" cy="1971675"/>
          </a:xfrm>
          <a:prstGeom prst="roundRect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 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19" name="Text Box 18"/>
          <p:cNvSpPr txBox="1"/>
          <p:nvPr/>
        </p:nvSpPr>
        <p:spPr>
          <a:xfrm>
            <a:off x="2701925" y="2677795"/>
            <a:ext cx="16662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5">
                    <a:lumMod val="40000"/>
                    <a:lumOff val="60000"/>
                  </a:schemeClr>
                </a:solidFill>
              </a:rPr>
              <a:t>DEFINITION</a:t>
            </a:r>
            <a:endParaRPr lang="en-US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0" name="Flowchart: Terminator 19"/>
          <p:cNvSpPr/>
          <p:nvPr/>
        </p:nvSpPr>
        <p:spPr>
          <a:xfrm>
            <a:off x="2668270" y="3211830"/>
            <a:ext cx="1733550" cy="739140"/>
          </a:xfrm>
          <a:prstGeom prst="flowChartTerminator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Action 1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cxnSp>
        <p:nvCxnSpPr>
          <p:cNvPr id="25" name="Curved Connector 24"/>
          <p:cNvCxnSpPr>
            <a:stCxn id="5" idx="1"/>
            <a:endCxn id="9" idx="3"/>
          </p:cNvCxnSpPr>
          <p:nvPr/>
        </p:nvCxnSpPr>
        <p:spPr>
          <a:xfrm rot="10800000" flipV="1">
            <a:off x="7565390" y="2242185"/>
            <a:ext cx="2065655" cy="122555"/>
          </a:xfrm>
          <a:prstGeom prst="curvedConnector3">
            <a:avLst>
              <a:gd name="adj1" fmla="val 49985"/>
            </a:avLst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26" name="Curved Connector 25"/>
          <p:cNvCxnSpPr>
            <a:stCxn id="6" idx="1"/>
            <a:endCxn id="15" idx="3"/>
          </p:cNvCxnSpPr>
          <p:nvPr/>
        </p:nvCxnSpPr>
        <p:spPr>
          <a:xfrm rot="10800000" flipV="1">
            <a:off x="7564755" y="3581400"/>
            <a:ext cx="2065655" cy="328930"/>
          </a:xfrm>
          <a:prstGeom prst="curvedConnector3">
            <a:avLst>
              <a:gd name="adj1" fmla="val 49985"/>
            </a:avLst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27" name="Curved Connector 26"/>
          <p:cNvCxnSpPr>
            <a:stCxn id="7" idx="1"/>
            <a:endCxn id="16" idx="3"/>
          </p:cNvCxnSpPr>
          <p:nvPr/>
        </p:nvCxnSpPr>
        <p:spPr>
          <a:xfrm rot="10800000" flipV="1">
            <a:off x="7564755" y="4919345"/>
            <a:ext cx="2187575" cy="351790"/>
          </a:xfrm>
          <a:prstGeom prst="curvedConnector3">
            <a:avLst>
              <a:gd name="adj1" fmla="val 49985"/>
            </a:avLst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28" name="Curved Connector 27"/>
          <p:cNvCxnSpPr>
            <a:stCxn id="9" idx="1"/>
            <a:endCxn id="20" idx="3"/>
          </p:cNvCxnSpPr>
          <p:nvPr/>
        </p:nvCxnSpPr>
        <p:spPr>
          <a:xfrm rot="10800000" flipV="1">
            <a:off x="4401820" y="2365375"/>
            <a:ext cx="1430655" cy="1216025"/>
          </a:xfrm>
          <a:prstGeom prst="curvedConnector3">
            <a:avLst>
              <a:gd name="adj1" fmla="val 49978"/>
            </a:avLst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29" name="Curved Connector 28"/>
          <p:cNvCxnSpPr>
            <a:stCxn id="15" idx="1"/>
            <a:endCxn id="20" idx="3"/>
          </p:cNvCxnSpPr>
          <p:nvPr/>
        </p:nvCxnSpPr>
        <p:spPr>
          <a:xfrm rot="10800000">
            <a:off x="4401820" y="3581400"/>
            <a:ext cx="1430020" cy="328930"/>
          </a:xfrm>
          <a:prstGeom prst="curvedConnector3">
            <a:avLst>
              <a:gd name="adj1" fmla="val 50000"/>
            </a:avLst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30" name="Curved Connector 29"/>
          <p:cNvCxnSpPr>
            <a:stCxn id="16" idx="1"/>
            <a:endCxn id="20" idx="3"/>
          </p:cNvCxnSpPr>
          <p:nvPr/>
        </p:nvCxnSpPr>
        <p:spPr>
          <a:xfrm rot="10800000">
            <a:off x="4401820" y="3581400"/>
            <a:ext cx="1430020" cy="1689735"/>
          </a:xfrm>
          <a:prstGeom prst="curvedConnector3">
            <a:avLst>
              <a:gd name="adj1" fmla="val 50000"/>
            </a:avLst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34" name="Explosion 1 33"/>
          <p:cNvSpPr/>
          <p:nvPr/>
        </p:nvSpPr>
        <p:spPr>
          <a:xfrm>
            <a:off x="144780" y="1191260"/>
            <a:ext cx="2292985" cy="2020570"/>
          </a:xfrm>
          <a:prstGeom prst="irregularSeal1">
            <a:avLst/>
          </a:prstGeom>
          <a:solidFill>
            <a:srgbClr val="92D050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Feature File</a:t>
            </a:r>
            <a:endParaRPr kumimoji="0" lang="en-US" altLang="zh-CN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cxnSp>
        <p:nvCxnSpPr>
          <p:cNvPr id="35" name="Curved Connector 34"/>
          <p:cNvCxnSpPr>
            <a:stCxn id="34" idx="2"/>
            <a:endCxn id="20" idx="1"/>
          </p:cNvCxnSpPr>
          <p:nvPr/>
        </p:nvCxnSpPr>
        <p:spPr>
          <a:xfrm rot="5400000" flipV="1">
            <a:off x="1671955" y="2585085"/>
            <a:ext cx="369570" cy="1623060"/>
          </a:xfrm>
          <a:prstGeom prst="curvedConnector2">
            <a:avLst/>
          </a:prstGeom>
          <a:ln w="38100">
            <a:solidFill>
              <a:srgbClr val="92D05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10" name="Flowchart: Process 9"/>
          <p:cNvSpPr/>
          <p:nvPr/>
        </p:nvSpPr>
        <p:spPr>
          <a:xfrm>
            <a:off x="609600" y="190500"/>
            <a:ext cx="10972800" cy="784860"/>
          </a:xfrm>
          <a:prstGeom prst="flowChartProcess">
            <a:avLst/>
          </a:prstGeom>
          <a:gradFill rotWithShape="0">
            <a:gsLst>
              <a:gs pos="0">
                <a:srgbClr val="012D86"/>
              </a:gs>
              <a:gs pos="100000">
                <a:srgbClr val="0E2557"/>
              </a:gs>
            </a:gsLst>
            <a:lin ang="5400000" scaled="0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50800" dir="5400000" algn="ctr" rotWithShape="0">
              <a:srgbClr val="002060">
                <a:alpha val="38000"/>
              </a:srgbClr>
            </a:outerShdw>
          </a:effectLst>
        </p:spPr>
        <p:txBody>
          <a:bodyPr vert="horz" wrap="none" lIns="91440" tIns="45720" rIns="91440" bIns="45720" numCol="1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360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ea typeface="SimSun" panose="02010600030101010101" pitchFamily="2" charset="-122"/>
                <a:sym typeface="+mn-ea"/>
              </a:rPr>
              <a:t>II. Test function by AUTOMATION.</a:t>
            </a:r>
            <a:endParaRPr kumimoji="0" lang="en-US" altLang="zh-CN" sz="3600" b="0" i="0" u="none" strike="noStrike" cap="none" normalizeH="0" baseline="0" smtClean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Arial" panose="020B0604020202020204" pitchFamily="34" charset="0"/>
              <a:ea typeface="SimSun" panose="02010600030101010101" pitchFamily="2" charset="-122"/>
              <a:sym typeface="+mn-ea"/>
            </a:endParaRPr>
          </a:p>
        </p:txBody>
      </p:sp>
      <p:pic>
        <p:nvPicPr>
          <p:cNvPr id="11" name="Content Placeholder 10" descr="ghe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093845" y="1174750"/>
            <a:ext cx="3604895" cy="52838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0" name="Flowchart: Process 9"/>
          <p:cNvSpPr/>
          <p:nvPr/>
        </p:nvSpPr>
        <p:spPr>
          <a:xfrm>
            <a:off x="609600" y="190500"/>
            <a:ext cx="10972800" cy="784860"/>
          </a:xfrm>
          <a:prstGeom prst="flowChartProcess">
            <a:avLst/>
          </a:prstGeom>
          <a:gradFill rotWithShape="0">
            <a:gsLst>
              <a:gs pos="0">
                <a:srgbClr val="012D86"/>
              </a:gs>
              <a:gs pos="100000">
                <a:srgbClr val="0E2557"/>
              </a:gs>
            </a:gsLst>
            <a:lin ang="5400000" scaled="0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50800" dir="5400000" algn="ctr" rotWithShape="0">
              <a:srgbClr val="002060">
                <a:alpha val="38000"/>
              </a:srgbClr>
            </a:outerShdw>
          </a:effectLst>
        </p:spPr>
        <p:txBody>
          <a:bodyPr vert="horz" wrap="none" lIns="91440" tIns="45720" rIns="91440" bIns="45720" numCol="1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360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ea typeface="SimSun" panose="02010600030101010101" pitchFamily="2" charset="-122"/>
                <a:sym typeface="+mn-ea"/>
              </a:rPr>
              <a:t>III. Demo &amp; Report</a:t>
            </a:r>
            <a:endParaRPr kumimoji="0" lang="en-US" altLang="zh-CN" sz="3600" b="0" i="0" u="none" strike="noStrike" cap="none" normalizeH="0" baseline="0" smtClean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Arial" panose="020B0604020202020204" pitchFamily="34" charset="0"/>
              <a:ea typeface="SimSun" panose="02010600030101010101" pitchFamily="2" charset="-122"/>
              <a:sym typeface="+mn-ea"/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609600" y="1974850"/>
            <a:ext cx="10972800" cy="4953000"/>
          </a:xfrm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marL="0" indent="0" algn="ctr">
              <a:buNone/>
            </a:pPr>
            <a:r>
              <a:rPr lang="en-US"/>
              <a:t> </a:t>
            </a:r>
            <a:r>
              <a:rPr lang="en-US" sz="48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Scenario - Create new User</a:t>
            </a:r>
            <a:endParaRPr lang="en-US" sz="48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250690" y="2829560"/>
            <a:ext cx="3689985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en-US" altLang="zh-CN" sz="7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Thanks!</a:t>
            </a:r>
            <a:endParaRPr lang="en-US" altLang="zh-CN" sz="72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range Waves">
  <a:themeElements>
    <a:clrScheme name="Orang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C73109"/>
      </a:accent1>
      <a:accent2>
        <a:srgbClr val="FF5050"/>
      </a:accent2>
      <a:accent3>
        <a:srgbClr val="FFFFFF"/>
      </a:accent3>
      <a:accent4>
        <a:srgbClr val="000000"/>
      </a:accent4>
      <a:accent5>
        <a:srgbClr val="E0ADAA"/>
      </a:accent5>
      <a:accent6>
        <a:srgbClr val="E74848"/>
      </a:accent6>
      <a:hlink>
        <a:srgbClr val="4D4D4D"/>
      </a:hlink>
      <a:folHlink>
        <a:srgbClr val="777777"/>
      </a:folHlink>
    </a:clrScheme>
    <a:fontScheme name="Orang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Orange Wa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C73109"/>
        </a:accent1>
        <a:accent2>
          <a:srgbClr val="FF5050"/>
        </a:accent2>
        <a:accent3>
          <a:srgbClr val="FFFFFF"/>
        </a:accent3>
        <a:accent4>
          <a:srgbClr val="000000"/>
        </a:accent4>
        <a:accent5>
          <a:srgbClr val="E0ADAA"/>
        </a:accent5>
        <a:accent6>
          <a:srgbClr val="E74848"/>
        </a:accent6>
        <a:hlink>
          <a:srgbClr val="4D4D4D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5810</Words>
  <Application>WPS Presentation</Application>
  <PresentationFormat>Widescreen</PresentationFormat>
  <Paragraphs>297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0" baseType="lpstr">
      <vt:lpstr>Arial</vt:lpstr>
      <vt:lpstr>SimSun</vt:lpstr>
      <vt:lpstr>Wingdings</vt:lpstr>
      <vt:lpstr>Symbol</vt:lpstr>
      <vt:lpstr>Microsoft YaHei</vt:lpstr>
      <vt:lpstr>Calibri</vt:lpstr>
      <vt:lpstr>Orange Waves</vt:lpstr>
      <vt:lpstr> Sharing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Sharing</dc:title>
  <dc:creator>kieuv</dc:creator>
  <cp:lastModifiedBy>kvtruyen</cp:lastModifiedBy>
  <cp:revision>90</cp:revision>
  <dcterms:created xsi:type="dcterms:W3CDTF">2017-12-03T10:52:00Z</dcterms:created>
  <dcterms:modified xsi:type="dcterms:W3CDTF">2017-12-26T11:10:59Z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1033-10.2.0.5871</vt:lpwstr>
  </property>
</Properties>
</file>