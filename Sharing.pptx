
<file path=[Content_Types].xml><?xml version="1.0" encoding="utf-8"?>
<Types xmlns="http://schemas.openxmlformats.org/package/2006/content-types">
  <Default Extension="jpeg" ContentType="image/jpe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3"/>
    <p:sldId id="257" r:id="rId4"/>
    <p:sldId id="258" r:id="rId5"/>
    <p:sldId id="278" r:id="rId6"/>
    <p:sldId id="279" r:id="rId7"/>
    <p:sldId id="280" r:id="rId8"/>
    <p:sldId id="260" r:id="rId9"/>
    <p:sldId id="271" r:id="rId10"/>
    <p:sldId id="272" r:id="rId11"/>
    <p:sldId id="261" r:id="rId12"/>
    <p:sldId id="275" r:id="rId13"/>
    <p:sldId id="274" r:id="rId14"/>
    <p:sldId id="263" r:id="rId15"/>
    <p:sldId id="262" r:id="rId16"/>
    <p:sldId id="264" r:id="rId17"/>
    <p:sldId id="277" r:id="rId18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2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GI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1176020"/>
            <a:ext cx="9144000" cy="923925"/>
          </a:xfrm>
        </p:spPr>
        <p:txBody>
          <a:bodyPr>
            <a:normAutofit/>
          </a:bodyPr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2099945"/>
            <a:ext cx="9271000" cy="1545590"/>
          </a:xfrm>
        </p:spPr>
        <p:txBody>
          <a:bodyPr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640070" y="55403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Tuong Minh Service Private Enterprise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Source:  - http://www.thucydides.info</a:t>
            </a:r>
            <a:endParaRPr lang="en-US" sz="26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-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174750"/>
            <a:ext cx="10972800" cy="4953000"/>
          </a:xfrm>
        </p:spPr>
        <p:txBody>
          <a:bodyPr/>
          <a:p>
            <a:r>
              <a:rPr lang="en-US" sz="4400"/>
              <a:t>I.</a:t>
            </a:r>
            <a:r>
              <a:rPr lang="en-US"/>
              <a:t>	</a:t>
            </a:r>
            <a:endParaRPr lang="en-US"/>
          </a:p>
          <a:p>
            <a:r>
              <a:rPr lang="en-US" sz="4400"/>
              <a:t>II. </a:t>
            </a:r>
            <a:endParaRPr lang="en-US" sz="4400"/>
          </a:p>
          <a:p>
            <a:r>
              <a:rPr lang="en-US" sz="4400"/>
              <a:t>III.</a:t>
            </a:r>
            <a:endParaRPr lang="en-US" sz="4400"/>
          </a:p>
          <a:p>
            <a:r>
              <a:rPr lang="en-US" sz="4400"/>
              <a:t>IV.   </a:t>
            </a: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4" name="Rounded Rectangle 3"/>
          <p:cNvSpPr/>
          <p:nvPr/>
        </p:nvSpPr>
        <p:spPr>
          <a:xfrm>
            <a:off x="1939925" y="11747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BDD</a:t>
            </a: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891665" y="20434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Creating a new Serenity BDD - Cucumber project?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91665" y="287147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Project Parttern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891665" y="368109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Demo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Content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892300" y="120713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</a:t>
            </a: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Serenity - </a:t>
            </a:r>
            <a:r>
              <a:rPr kumimoji="0" lang="zh-CN" altLang="en-US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BDD</a:t>
            </a: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892300" y="20434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Creating a new Serenity BDD - Cucumber project?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What is Serenity - BDD?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4800" y="1178560"/>
            <a:ext cx="5710555" cy="368427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serenity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04800" y="1320800"/>
            <a:ext cx="5276850" cy="332422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6330950" y="1178560"/>
            <a:ext cx="48952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Serenity is an open source library that helps you write higher quality automated acceptance tests faster.</a:t>
            </a:r>
            <a:endParaRPr lang="en-US"/>
          </a:p>
        </p:txBody>
      </p:sp>
      <p:sp>
        <p:nvSpPr>
          <p:cNvPr id="14" name="Text Box 13"/>
          <p:cNvSpPr txBox="1"/>
          <p:nvPr/>
        </p:nvSpPr>
        <p:spPr>
          <a:xfrm>
            <a:off x="6471285" y="2268220"/>
            <a:ext cx="5111750" cy="31089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Serenity helps you :</a:t>
            </a:r>
            <a:endParaRPr lang="en-US"/>
          </a:p>
          <a:p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Write tests that are more flexible and easier to maintain</a:t>
            </a:r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Produce illustrated, narrative reports about your tests</a:t>
            </a:r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Map your automated tests back to your requirements</a:t>
            </a:r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See how much of your application is actually being tested.</a:t>
            </a:r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And keep tabs on project progress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What is Serenity - BDD?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65150" y="1342390"/>
            <a:ext cx="4657090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r>
              <a:rPr lang="en-US" sz="240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TDD - Test-Driven Development</a:t>
            </a:r>
            <a:endParaRPr lang="en-US" sz="2400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7" name="Content Placeholder 6" descr="tdd-la-gi-Test-Driven-Developmen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167765" y="1975485"/>
            <a:ext cx="9144000" cy="40290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What is Serenity - BDD?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65150" y="1342390"/>
            <a:ext cx="56102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r>
              <a:rPr lang="en-US" sz="2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BDD - Behavior-Driven Development</a:t>
            </a:r>
            <a:endParaRPr lang="en-US" sz="2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3" name="Content Placeholder 2" descr="TDD-vs-BDD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59735" y="1802765"/>
            <a:ext cx="6660515" cy="3952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What is Serenity - BDD?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65150" y="1342390"/>
            <a:ext cx="56102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r>
              <a:rPr lang="en-US" sz="2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Gherkin</a:t>
            </a:r>
            <a:endParaRPr lang="en-US" sz="2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5" name="Content Placeholder 4" descr="BBDTestStructur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55775" y="2118995"/>
            <a:ext cx="8874760" cy="34347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Creating a new Serenity - BDD Cucumber project</a:t>
            </a:r>
            <a:r>
              <a:rPr kumimoji="0" lang="en-US" altLang="zh-CN" sz="44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44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Content Placeholder 10"/>
          <p:cNvSpPr/>
          <p:nvPr>
            <p:ph sz="half" idx="1"/>
          </p:nvPr>
        </p:nvSpPr>
        <p:spPr>
          <a:xfrm>
            <a:off x="609600" y="1174750"/>
            <a:ext cx="4722495" cy="4953000"/>
          </a:xfrm>
        </p:spPr>
        <p:txBody>
          <a:bodyPr/>
          <a:p>
            <a:pPr marL="0" indent="0">
              <a:buNone/>
            </a:pPr>
            <a:r>
              <a:rPr lang="en-US" sz="240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1. Run</a:t>
            </a:r>
            <a:r>
              <a:rPr lang="en-US" sz="2400"/>
              <a:t>: </a:t>
            </a:r>
            <a:endParaRPr lang="en-US" sz="2400"/>
          </a:p>
          <a:p>
            <a:pPr marL="0" indent="0">
              <a:buNone/>
            </a:pPr>
            <a:r>
              <a:rPr lang="en-US" sz="2400">
                <a:solidFill>
                  <a:schemeClr val="accent2">
                    <a:lumMod val="75000"/>
                  </a:schemeClr>
                </a:solidFill>
              </a:rPr>
              <a:t>mvn archetype:generate -Dfilter=serenity-cucumber</a:t>
            </a:r>
            <a:endParaRPr lang="en-US" sz="2400">
              <a:solidFill>
                <a:schemeClr val="accent2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2400"/>
          </a:p>
        </p:txBody>
      </p:sp>
      <p:pic>
        <p:nvPicPr>
          <p:cNvPr id="3" name="Content Placeholder 2" descr="1. creating project command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4957445" y="1297940"/>
            <a:ext cx="6624955" cy="34829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itle 1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Creating a new Serenity - BDD Cucumber project</a:t>
            </a:r>
            <a:r>
              <a:rPr kumimoji="0" lang="en-US" altLang="zh-CN" sz="44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44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Content Placeholder 10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endParaRPr lang="en-US" sz="2400">
              <a:solidFill>
                <a:schemeClr val="accent2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2400"/>
          </a:p>
        </p:txBody>
      </p:sp>
      <p:sp>
        <p:nvSpPr>
          <p:cNvPr id="5" name="Content Placeholder 10"/>
          <p:cNvSpPr/>
          <p:nvPr/>
        </p:nvSpPr>
        <p:spPr>
          <a:xfrm>
            <a:off x="736600" y="1301750"/>
            <a:ext cx="4722495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2. Choosing version:</a:t>
            </a:r>
            <a:endParaRPr lang="en-US" sz="2400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9" name="Content Placeholder 8" descr="1.2 create project nam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1736090" y="2019300"/>
            <a:ext cx="8218805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Creating a new Serenity - BDD Cucumber project</a:t>
            </a:r>
            <a:r>
              <a:rPr kumimoji="0" lang="en-US" altLang="zh-CN" sz="44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44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Content Placeholder 10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endParaRPr lang="en-US" sz="2400">
              <a:solidFill>
                <a:schemeClr val="accent2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2400"/>
          </a:p>
        </p:txBody>
      </p:sp>
      <p:sp>
        <p:nvSpPr>
          <p:cNvPr id="2" name="Content Placeholder 10"/>
          <p:cNvSpPr/>
          <p:nvPr/>
        </p:nvSpPr>
        <p:spPr>
          <a:xfrm>
            <a:off x="609600" y="1174750"/>
            <a:ext cx="5384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400">
              <a:solidFill>
                <a:schemeClr val="accent2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2400"/>
          </a:p>
        </p:txBody>
      </p:sp>
      <p:sp>
        <p:nvSpPr>
          <p:cNvPr id="5" name="Content Placeholder 10"/>
          <p:cNvSpPr/>
          <p:nvPr/>
        </p:nvSpPr>
        <p:spPr>
          <a:xfrm>
            <a:off x="736600" y="1301750"/>
            <a:ext cx="4722495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2. Creating successfully</a:t>
            </a:r>
            <a:endParaRPr lang="en-US" sz="2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3" name="Content Placeholder 2" descr="1.3 finish create projec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9600" y="1840230"/>
            <a:ext cx="8077200" cy="2103120"/>
          </a:xfrm>
          <a:prstGeom prst="rect">
            <a:avLst/>
          </a:prstGeom>
        </p:spPr>
      </p:pic>
      <p:pic>
        <p:nvPicPr>
          <p:cNvPr id="7" name="Picture 6" descr="1.4 create project successfull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760" y="2923540"/>
            <a:ext cx="7077075" cy="25419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Project Parttern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sz="half" idx="1"/>
          </p:nvPr>
        </p:nvSpPr>
        <p:spPr/>
        <p:txBody>
          <a:bodyPr>
            <a:scene3d>
              <a:camera prst="orthographicFront"/>
              <a:lightRig rig="threePt" dir="t"/>
            </a:scene3d>
          </a:bodyPr>
          <a:p>
            <a:pPr marL="0" indent="0">
              <a:buNone/>
            </a:pPr>
            <a:r>
              <a:rPr lang="en-US" sz="240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1. Project Overview</a:t>
            </a:r>
            <a:endParaRPr lang="en-US" sz="2400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0" indent="0">
              <a:buNone/>
            </a:pPr>
            <a:endParaRPr lang="en-US" sz="2400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3" name="Content Placeholder 2" descr="2.1 project structer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9600" y="1866900"/>
            <a:ext cx="10321925" cy="38112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Project Parttern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sz="half" idx="1"/>
          </p:nvPr>
        </p:nvSpPr>
        <p:spPr/>
        <p:txBody>
          <a:bodyPr>
            <a:scene3d>
              <a:camera prst="orthographicFront"/>
              <a:lightRig rig="threePt" dir="t"/>
            </a:scene3d>
          </a:bodyPr>
          <a:p>
            <a:pPr marL="0" indent="0">
              <a:buNone/>
            </a:pPr>
            <a:r>
              <a:rPr lang="en-US" sz="2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2. Feature file.</a:t>
            </a:r>
            <a:endParaRPr lang="en-US" sz="2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0" indent="0">
              <a:buNone/>
            </a:pPr>
            <a:endParaRPr lang="en-US" sz="2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3" name="Content Placeholder 2" descr="2.2.4 feature fil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9600" y="1835150"/>
            <a:ext cx="10587355" cy="28778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Project Parttern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sz="half" idx="1"/>
          </p:nvPr>
        </p:nvSpPr>
        <p:spPr/>
        <p:txBody>
          <a:bodyPr>
            <a:scene3d>
              <a:camera prst="orthographicFront"/>
              <a:lightRig rig="threePt" dir="t"/>
            </a:scene3d>
          </a:bodyPr>
          <a:p>
            <a:pPr marL="0" indent="0">
              <a:buNone/>
            </a:pPr>
            <a:r>
              <a:rPr lang="en-US" sz="2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3. Definition Step</a:t>
            </a:r>
            <a:endParaRPr lang="en-US" sz="2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0" indent="0">
              <a:buNone/>
            </a:pPr>
            <a:endParaRPr lang="en-US" sz="2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5" name="Content Placeholder 4" descr="2.2.1 definition step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1047115" y="1977390"/>
            <a:ext cx="9410700" cy="35756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4" name="Flowchart: Process 3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Project Parttern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Content Placeholder 4"/>
          <p:cNvSpPr/>
          <p:nvPr>
            <p:ph sz="half" idx="1"/>
          </p:nvPr>
        </p:nvSpPr>
        <p:spPr/>
        <p:txBody>
          <a:bodyPr>
            <a:scene3d>
              <a:camera prst="orthographicFront"/>
              <a:lightRig rig="threePt" dir="t"/>
            </a:scene3d>
          </a:bodyPr>
          <a:p>
            <a:pPr marL="0" indent="0">
              <a:buNone/>
            </a:pPr>
            <a:r>
              <a:rPr lang="en-US" sz="2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4. Report</a:t>
            </a:r>
            <a:endParaRPr lang="en-US" sz="2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6" name="Content Placeholder 5" descr="2.2.5 repor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284095" y="1174750"/>
            <a:ext cx="8682990" cy="4678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Project Parttern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9428480" y="1159510"/>
            <a:ext cx="2153920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9995535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PAGE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Flowchart: Terminator 4"/>
          <p:cNvSpPr/>
          <p:nvPr/>
        </p:nvSpPr>
        <p:spPr>
          <a:xfrm>
            <a:off x="9631680" y="1707515"/>
            <a:ext cx="1784985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1....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1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Flowchart: Terminator 5"/>
          <p:cNvSpPr/>
          <p:nvPr/>
        </p:nvSpPr>
        <p:spPr>
          <a:xfrm>
            <a:off x="9631045" y="3046095"/>
            <a:ext cx="178562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2....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2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9752965" y="4384040"/>
            <a:ext cx="166370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3....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3~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17845" y="1159510"/>
            <a:ext cx="2162175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Flowchart: Terminator 8"/>
          <p:cNvSpPr/>
          <p:nvPr/>
        </p:nvSpPr>
        <p:spPr>
          <a:xfrm>
            <a:off x="5832475" y="199580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6188710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STEP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Flowchart: Terminator 14"/>
          <p:cNvSpPr/>
          <p:nvPr/>
        </p:nvSpPr>
        <p:spPr>
          <a:xfrm>
            <a:off x="5831840" y="354076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2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6" name="Flowchart: Terminator 15"/>
          <p:cNvSpPr/>
          <p:nvPr/>
        </p:nvSpPr>
        <p:spPr>
          <a:xfrm>
            <a:off x="5831840" y="490156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3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437765" y="2487295"/>
            <a:ext cx="2195195" cy="197167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2701925" y="2677795"/>
            <a:ext cx="16662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DEFINITION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Flowchart: Terminator 19"/>
          <p:cNvSpPr/>
          <p:nvPr/>
        </p:nvSpPr>
        <p:spPr>
          <a:xfrm>
            <a:off x="2668270" y="321183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Action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25" name="Curved Connector 24"/>
          <p:cNvCxnSpPr>
            <a:stCxn id="5" idx="1"/>
            <a:endCxn id="9" idx="3"/>
          </p:cNvCxnSpPr>
          <p:nvPr/>
        </p:nvCxnSpPr>
        <p:spPr>
          <a:xfrm rot="10800000" flipV="1">
            <a:off x="7565390" y="2242185"/>
            <a:ext cx="2065655" cy="122555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Curved Connector 25"/>
          <p:cNvCxnSpPr>
            <a:stCxn id="6" idx="1"/>
            <a:endCxn id="15" idx="3"/>
          </p:cNvCxnSpPr>
          <p:nvPr/>
        </p:nvCxnSpPr>
        <p:spPr>
          <a:xfrm rot="10800000" flipV="1">
            <a:off x="7564755" y="3581400"/>
            <a:ext cx="2065655" cy="32893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Curved Connector 26"/>
          <p:cNvCxnSpPr>
            <a:stCxn id="7" idx="1"/>
            <a:endCxn id="16" idx="3"/>
          </p:cNvCxnSpPr>
          <p:nvPr/>
        </p:nvCxnSpPr>
        <p:spPr>
          <a:xfrm rot="10800000" flipV="1">
            <a:off x="7564755" y="4919345"/>
            <a:ext cx="2187575" cy="35179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8" name="Curved Connector 27"/>
          <p:cNvCxnSpPr>
            <a:stCxn id="9" idx="1"/>
            <a:endCxn id="20" idx="3"/>
          </p:cNvCxnSpPr>
          <p:nvPr/>
        </p:nvCxnSpPr>
        <p:spPr>
          <a:xfrm rot="10800000" flipV="1">
            <a:off x="4401820" y="2365375"/>
            <a:ext cx="1430655" cy="1216025"/>
          </a:xfrm>
          <a:prstGeom prst="curvedConnector3">
            <a:avLst>
              <a:gd name="adj1" fmla="val 49978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9" name="Curved Connector 28"/>
          <p:cNvCxnSpPr>
            <a:stCxn id="15" idx="1"/>
            <a:endCxn id="20" idx="3"/>
          </p:cNvCxnSpPr>
          <p:nvPr/>
        </p:nvCxnSpPr>
        <p:spPr>
          <a:xfrm rot="10800000">
            <a:off x="4401820" y="3581400"/>
            <a:ext cx="1430020" cy="328930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0" name="Curved Connector 29"/>
          <p:cNvCxnSpPr>
            <a:stCxn id="16" idx="1"/>
            <a:endCxn id="20" idx="3"/>
          </p:cNvCxnSpPr>
          <p:nvPr/>
        </p:nvCxnSpPr>
        <p:spPr>
          <a:xfrm rot="10800000">
            <a:off x="4401820" y="3581400"/>
            <a:ext cx="1430020" cy="1689735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4" name="Explosion 1 33"/>
          <p:cNvSpPr/>
          <p:nvPr/>
        </p:nvSpPr>
        <p:spPr>
          <a:xfrm>
            <a:off x="144780" y="1191260"/>
            <a:ext cx="2292985" cy="2020570"/>
          </a:xfrm>
          <a:prstGeom prst="irregularSeal1">
            <a:avLst/>
          </a:prstGeom>
          <a:solidFill>
            <a:srgbClr val="92D05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Feature File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35" name="Curved Connector 34"/>
          <p:cNvCxnSpPr>
            <a:stCxn id="34" idx="2"/>
            <a:endCxn id="20" idx="1"/>
          </p:cNvCxnSpPr>
          <p:nvPr/>
        </p:nvCxnSpPr>
        <p:spPr>
          <a:xfrm rot="5400000" flipV="1">
            <a:off x="1671955" y="2585085"/>
            <a:ext cx="369570" cy="1623060"/>
          </a:xfrm>
          <a:prstGeom prst="curvedConnector2">
            <a:avLst/>
          </a:prstGeom>
          <a:ln w="38100">
            <a:solidFill>
              <a:srgbClr val="92D05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V. Demo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/>
              <a:t>1. Login</a:t>
            </a:r>
            <a:endParaRPr lang="en-US"/>
          </a:p>
          <a:p>
            <a:pPr marL="0" indent="0">
              <a:buNone/>
            </a:pPr>
            <a:r>
              <a:rPr lang="en-US"/>
              <a:t>2. Change User Profile - Background</a:t>
            </a:r>
            <a:endParaRPr lang="en-US"/>
          </a:p>
          <a:p>
            <a:pPr marL="0" indent="0">
              <a:buNone/>
            </a:pPr>
            <a:r>
              <a:rPr lang="en-US"/>
              <a:t>3. Create new User account - Scenario Ouline.</a:t>
            </a:r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1564</Words>
  <Application>WPS Presentation</Application>
  <PresentationFormat>Widescreen</PresentationFormat>
  <Paragraphs>135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6" baseType="lpstr">
      <vt:lpstr>Arial</vt:lpstr>
      <vt:lpstr>SimSun</vt:lpstr>
      <vt:lpstr>Wingdings</vt:lpstr>
      <vt:lpstr>Wingdings</vt:lpstr>
      <vt:lpstr>Microsoft YaHei</vt:lpstr>
      <vt:lpstr/>
      <vt:lpstr>Arial Unicode MS</vt:lpstr>
      <vt:lpstr>Calibri</vt:lpstr>
      <vt:lpstr>Segoe Print</vt:lpstr>
      <vt:lpstr>Orange Waves</vt:lpstr>
      <vt:lpstr>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kieuv</cp:lastModifiedBy>
  <cp:revision>46</cp:revision>
  <dcterms:created xsi:type="dcterms:W3CDTF">2017-12-03T10:52:00Z</dcterms:created>
  <dcterms:modified xsi:type="dcterms:W3CDTF">2017-12-06T17:38:43Z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1033-10.2.0.5965</vt:lpwstr>
  </property>
</Properties>
</file>