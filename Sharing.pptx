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3"/>
    <p:sldId id="257" r:id="rId4"/>
    <p:sldId id="328" r:id="rId5"/>
    <p:sldId id="352" r:id="rId6"/>
    <p:sldId id="353" r:id="rId7"/>
    <p:sldId id="354" r:id="rId8"/>
    <p:sldId id="355" r:id="rId9"/>
    <p:sldId id="356" r:id="rId10"/>
    <p:sldId id="357" r:id="rId11"/>
    <p:sldId id="322" r:id="rId12"/>
    <p:sldId id="358" r:id="rId13"/>
    <p:sldId id="335" r:id="rId14"/>
    <p:sldId id="359" r:id="rId15"/>
    <p:sldId id="323" r:id="rId16"/>
    <p:sldId id="336" r:id="rId17"/>
    <p:sldId id="360" r:id="rId18"/>
    <p:sldId id="361" r:id="rId19"/>
    <p:sldId id="326" r:id="rId20"/>
    <p:sldId id="347" r:id="rId21"/>
    <p:sldId id="343" r:id="rId22"/>
    <p:sldId id="348" r:id="rId23"/>
    <p:sldId id="342" r:id="rId24"/>
    <p:sldId id="277" r:id="rId25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notesMaster" Target="notesMasters/notesMaster1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lstStyle/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lstStyle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TMA SOLUTION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	</a:t>
            </a:r>
            <a:r>
              <a:rPr lang="en-US" sz="4400"/>
              <a:t> </a:t>
            </a:r>
            <a:endParaRPr lang="en-US" sz="4400"/>
          </a:p>
          <a:p>
            <a:endParaRPr lang="en-US" sz="4400"/>
          </a:p>
          <a:p>
            <a:pPr marL="0" indent="0">
              <a:buNone/>
            </a:pP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Scenario Map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11" name="Content Placeholder 10" descr="Scenario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056130" y="1174750"/>
            <a:ext cx="7750175" cy="47123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 Account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"cd.0022@yopmail.com"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manag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273800" y="1029335"/>
            <a:ext cx="5308600" cy="2947670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V="1">
            <a:off x="5224145" y="1440815"/>
            <a:ext cx="1580515" cy="233616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6035040" y="4167505"/>
            <a:ext cx="6091555" cy="7694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@Then</a:t>
            </a:r>
            <a:r>
              <a:rPr lang="en-US" sz="1000">
                <a:solidFill>
                  <a:schemeClr val="tx1"/>
                </a:solidFill>
              </a:rPr>
              <a:t>("</a:t>
            </a:r>
            <a:r>
              <a:rPr lang="en-US" sz="1000">
                <a:solidFill>
                  <a:srgbClr val="00B0F0"/>
                </a:solidFill>
              </a:rPr>
              <a:t>^System should navigate to \"([^\"]*)\" screen\\.$</a:t>
            </a:r>
            <a:r>
              <a:rPr lang="en-US" sz="1000">
                <a:solidFill>
                  <a:schemeClr val="tx1"/>
                </a:solidFill>
              </a:rPr>
              <a:t>")</a:t>
            </a:r>
            <a:endParaRPr lang="en-US" sz="1000">
              <a:solidFill>
                <a:schemeClr val="tx1"/>
              </a:solidFill>
            </a:endParaRPr>
          </a:p>
          <a:p>
            <a:r>
              <a:rPr lang="en-US" sz="1000">
                <a:solidFill>
                  <a:schemeClr val="tx1"/>
                </a:solidFill>
              </a:rPr>
              <a:t> public void system_should_navigate_to_screen(String systemAdminTitle)throws Exception {</a:t>
            </a:r>
            <a:endParaRPr lang="en-US" sz="1000">
              <a:solidFill>
                <a:schemeClr val="tx1"/>
              </a:solidFill>
            </a:endParaRPr>
          </a:p>
          <a:p>
            <a:r>
              <a:rPr lang="en-US" sz="1000">
                <a:solidFill>
                  <a:schemeClr val="tx1"/>
                </a:solidFill>
              </a:rPr>
              <a:t>	Assert.assertEquals(manageAdminStep.get_sysAdminTitle(),systemAdminTitle);</a:t>
            </a:r>
            <a:endParaRPr lang="en-US" sz="1000">
              <a:solidFill>
                <a:schemeClr val="tx1"/>
              </a:solidFill>
            </a:endParaRPr>
          </a:p>
          <a:p>
            <a:r>
              <a:rPr lang="en-US" sz="1000">
                <a:solidFill>
                  <a:schemeClr val="tx1"/>
                </a:solidFill>
              </a:rPr>
              <a:t>}</a:t>
            </a:r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5994400" y="5121910"/>
            <a:ext cx="6172200" cy="1283592"/>
          </a:xfrm>
          <a:prstGeom prst="roundRect">
            <a:avLst>
              <a:gd name="adj" fmla="val 16676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000">
                <a:solidFill>
                  <a:schemeClr val="bg1">
                    <a:lumMod val="75000"/>
                  </a:schemeClr>
                </a:solidFill>
              </a:rPr>
              <a:t>@FindBy</a:t>
            </a:r>
            <a:r>
              <a:rPr lang="en-US" sz="1000"/>
              <a:t>(xpath="//*[@class='manage-content']/div[1]") (Define on </a:t>
            </a:r>
            <a:r>
              <a:rPr lang="en-US" sz="1000">
                <a:sym typeface="+mn-ea"/>
              </a:rPr>
              <a:t>Manage System Administrators screen</a:t>
            </a:r>
            <a:r>
              <a:rPr lang="en-US" sz="1000"/>
              <a:t>)</a:t>
            </a:r>
            <a:endParaRPr lang="en-US" sz="1000"/>
          </a:p>
          <a:p>
            <a:endParaRPr lang="en-US" sz="1000"/>
          </a:p>
          <a:p>
            <a:r>
              <a:rPr lang="en-US" sz="1000">
                <a:solidFill>
                  <a:srgbClr val="C00000"/>
                </a:solidFill>
              </a:rPr>
              <a:t>private</a:t>
            </a:r>
            <a:r>
              <a:rPr lang="en-US" sz="1000"/>
              <a:t> WebElementFacade title;</a:t>
            </a:r>
            <a:endParaRPr lang="en-US" sz="1000"/>
          </a:p>
          <a:p>
            <a:r>
              <a:rPr lang="en-US" sz="1000"/>
              <a:t>public String get_Manage_Admin_title() {</a:t>
            </a:r>
            <a:endParaRPr lang="en-US" sz="1000"/>
          </a:p>
          <a:p>
            <a:r>
              <a:rPr lang="en-US" sz="1000"/>
              <a:t>	return title.getText();</a:t>
            </a:r>
            <a:endParaRPr lang="en-US" sz="1000"/>
          </a:p>
          <a:p>
            <a:r>
              <a:rPr lang="en-US" sz="1000"/>
              <a:t>}</a:t>
            </a:r>
            <a:endParaRPr lang="en-US" sz="1000"/>
          </a:p>
        </p:txBody>
      </p:sp>
      <p:cxnSp>
        <p:nvCxnSpPr>
          <p:cNvPr id="15" name="Curved Connector 14"/>
          <p:cNvCxnSpPr/>
          <p:nvPr/>
        </p:nvCxnSpPr>
        <p:spPr>
          <a:xfrm>
            <a:off x="5224145" y="3921125"/>
            <a:ext cx="844550" cy="622300"/>
          </a:xfrm>
          <a:prstGeom prst="curvedConnector3">
            <a:avLst>
              <a:gd name="adj1" fmla="val 15864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/>
          <p:cNvCxnSpPr>
            <a:endCxn id="14" idx="1"/>
          </p:cNvCxnSpPr>
          <p:nvPr/>
        </p:nvCxnSpPr>
        <p:spPr>
          <a:xfrm rot="5400000">
            <a:off x="5584190" y="5299710"/>
            <a:ext cx="873760" cy="53975"/>
          </a:xfrm>
          <a:prstGeom prst="curvedConnector4">
            <a:avLst>
              <a:gd name="adj1" fmla="val 13263"/>
              <a:gd name="adj2" fmla="val 1312352"/>
            </a:avLst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 Account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"cd.0022@yopmail.com"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manag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273800" y="1029335"/>
            <a:ext cx="5308600" cy="2947670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V="1">
            <a:off x="4756785" y="3615690"/>
            <a:ext cx="3916680" cy="46736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/>
          <p:cNvCxnSpPr/>
          <p:nvPr/>
        </p:nvCxnSpPr>
        <p:spPr>
          <a:xfrm flipV="1">
            <a:off x="4683760" y="3615690"/>
            <a:ext cx="2162175" cy="76390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manag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1506220"/>
            <a:ext cx="8289925" cy="338645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680085" y="5140325"/>
            <a:ext cx="9239885" cy="131721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>
                <a:solidFill>
                  <a:schemeClr val="bg1">
                    <a:lumMod val="50000"/>
                  </a:schemeClr>
                </a:solidFill>
                <a:sym typeface="+mn-ea"/>
              </a:rPr>
              <a:t>@Then</a:t>
            </a:r>
            <a:r>
              <a:rPr lang="en-US">
                <a:sym typeface="+mn-ea"/>
              </a:rPr>
              <a:t>("</a:t>
            </a:r>
            <a:r>
              <a:rPr lang="en-US">
                <a:solidFill>
                  <a:srgbClr val="00B0F0"/>
                </a:solidFill>
                <a:sym typeface="+mn-ea"/>
              </a:rPr>
              <a:t>^\"([^\"]*)\" should be shown on screen\\.$</a:t>
            </a:r>
            <a:r>
              <a:rPr lang="en-US">
                <a:sym typeface="+mn-ea"/>
              </a:rPr>
              <a:t>")</a:t>
            </a:r>
            <a:endParaRPr lang="en-US"/>
          </a:p>
          <a:p>
            <a:r>
              <a:rPr lang="en-US">
                <a:sym typeface="+mn-ea"/>
              </a:rPr>
              <a:t>public void email_should_be_shown_on_screen(String email) throws Exception {</a:t>
            </a:r>
            <a:endParaRPr lang="en-US"/>
          </a:p>
          <a:p>
            <a:r>
              <a:rPr lang="en-US">
                <a:sym typeface="+mn-ea"/>
              </a:rPr>
              <a:t>	Assert.assertEquals(manageAdminStep.get_Email_Is_Shown(email), true);</a:t>
            </a:r>
            <a:endParaRPr lang="en-US"/>
          </a:p>
          <a:p>
            <a:r>
              <a:rPr lang="en-US">
                <a:sym typeface="+mn-ea"/>
              </a:rPr>
              <a:t>}</a:t>
            </a:r>
            <a:endParaRPr lang="en-US"/>
          </a:p>
        </p:txBody>
      </p:sp>
      <p:cxnSp>
        <p:nvCxnSpPr>
          <p:cNvPr id="12" name="Straight Arrow Connector 11"/>
          <p:cNvCxnSpPr/>
          <p:nvPr/>
        </p:nvCxnSpPr>
        <p:spPr>
          <a:xfrm flipH="1" flipV="1">
            <a:off x="4733925" y="4569460"/>
            <a:ext cx="400050" cy="57086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manag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1551940"/>
            <a:ext cx="7690485" cy="338645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609600" y="5240655"/>
            <a:ext cx="10650220" cy="13047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>
                <a:solidFill>
                  <a:schemeClr val="bg1">
                    <a:lumMod val="50000"/>
                  </a:schemeClr>
                </a:solidFill>
                <a:sym typeface="+mn-ea"/>
              </a:rPr>
              <a:t>@Then</a:t>
            </a:r>
            <a:r>
              <a:rPr lang="en-US">
                <a:sym typeface="+mn-ea"/>
              </a:rPr>
              <a:t>("</a:t>
            </a:r>
            <a:r>
              <a:rPr lang="en-US">
                <a:solidFill>
                  <a:srgbClr val="00B0F0"/>
                </a:solidFill>
                <a:sym typeface="+mn-ea"/>
              </a:rPr>
              <a:t>^\"([^\"]*)\" Shows correctly on screen\\.$</a:t>
            </a:r>
            <a:r>
              <a:rPr lang="en-US">
                <a:sym typeface="+mn-ea"/>
              </a:rPr>
              <a:t>")</a:t>
            </a:r>
            <a:endParaRPr lang="en-US"/>
          </a:p>
          <a:p>
            <a:r>
              <a:rPr lang="en-US">
                <a:sym typeface="+mn-ea"/>
              </a:rPr>
              <a:t>public void User_name_should_be_shown_on_screen(String username) throws Exception {</a:t>
            </a:r>
            <a:endParaRPr lang="en-US"/>
          </a:p>
          <a:p>
            <a:r>
              <a:rPr lang="en-US">
                <a:sym typeface="+mn-ea"/>
              </a:rPr>
              <a:t>	Assert.assertEquals(manageAdminStep.get_User_Name_Is_Shown(username), true);</a:t>
            </a:r>
            <a:endParaRPr lang="en-US">
              <a:sym typeface="+mn-ea"/>
            </a:endParaRPr>
          </a:p>
          <a:p>
            <a:r>
              <a:rPr lang="en-US"/>
              <a:t>}</a:t>
            </a:r>
            <a:endParaRPr lang="en-US"/>
          </a:p>
        </p:txBody>
      </p:sp>
      <p:cxnSp>
        <p:nvCxnSpPr>
          <p:cNvPr id="2" name="Straight Arrow Connector 1"/>
          <p:cNvCxnSpPr/>
          <p:nvPr/>
        </p:nvCxnSpPr>
        <p:spPr>
          <a:xfrm flipH="1" flipV="1">
            <a:off x="1560830" y="4639310"/>
            <a:ext cx="29845" cy="54102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4" name="Content Placeholder 3" descr="li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494790"/>
            <a:ext cx="5432425" cy="4953000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6265545" y="1486535"/>
            <a:ext cx="5085080" cy="301865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600">
                <a:solidFill>
                  <a:schemeClr val="bg1">
                    <a:lumMod val="50000"/>
                  </a:schemeClr>
                </a:solidFill>
              </a:rPr>
              <a:t>@FindBy</a:t>
            </a:r>
            <a:r>
              <a:rPr lang="en-US" sz="1600"/>
              <a:t>(xpath="</a:t>
            </a:r>
            <a:r>
              <a:rPr lang="en-US" sz="1600">
                <a:solidFill>
                  <a:srgbClr val="00B0F0"/>
                </a:solidFill>
              </a:rPr>
              <a:t>//*[@class='rt-tr-group']/div/div[2]</a:t>
            </a:r>
            <a:r>
              <a:rPr lang="en-US" sz="1600"/>
              <a:t>")</a:t>
            </a:r>
            <a:endParaRPr lang="en-US" sz="1600"/>
          </a:p>
          <a:p>
            <a:r>
              <a:rPr lang="en-US" sz="1600">
                <a:solidFill>
                  <a:srgbClr val="FF0000"/>
                </a:solidFill>
              </a:rPr>
              <a:t>private</a:t>
            </a:r>
            <a:r>
              <a:rPr lang="en-US" sz="1600"/>
              <a:t> List&lt;WebElementFacade&gt; emailList;</a:t>
            </a:r>
            <a:endParaRPr lang="en-US" sz="1600"/>
          </a:p>
          <a:p>
            <a:endParaRPr lang="en-US" sz="1600"/>
          </a:p>
          <a:p>
            <a:r>
              <a:rPr lang="en-US" sz="1600"/>
              <a:t>	</a:t>
            </a:r>
            <a:endParaRPr lang="en-US" sz="1600"/>
          </a:p>
          <a:p>
            <a:r>
              <a:rPr lang="en-US" sz="1600">
                <a:solidFill>
                  <a:schemeClr val="bg1">
                    <a:lumMod val="50000"/>
                  </a:schemeClr>
                </a:solidFill>
              </a:rPr>
              <a:t>@FindBy</a:t>
            </a:r>
            <a:r>
              <a:rPr lang="en-US" sz="1600"/>
              <a:t>(xpath="</a:t>
            </a:r>
            <a:r>
              <a:rPr lang="en-US" sz="1600">
                <a:solidFill>
                  <a:srgbClr val="00B0F0"/>
                </a:solidFill>
              </a:rPr>
              <a:t>//*[@class='rt-tr-group']/div/div[1]</a:t>
            </a:r>
            <a:r>
              <a:rPr lang="en-US" sz="1600"/>
              <a:t>")</a:t>
            </a:r>
            <a:endParaRPr lang="en-US" sz="1600"/>
          </a:p>
          <a:p>
            <a:r>
              <a:rPr lang="en-US" sz="1600">
                <a:solidFill>
                  <a:srgbClr val="FF0000"/>
                </a:solidFill>
              </a:rPr>
              <a:t>private</a:t>
            </a:r>
            <a:r>
              <a:rPr lang="en-US" sz="1600"/>
              <a:t> List&lt;WebElementFacade&gt; userList;</a:t>
            </a:r>
            <a:endParaRPr lang="en-US" sz="1600"/>
          </a:p>
          <a:p>
            <a:endParaRPr lang="en-US" sz="1600"/>
          </a:p>
          <a:p>
            <a:r>
              <a:rPr lang="en-US" sz="1600"/>
              <a:t>int count = 0;</a:t>
            </a:r>
            <a:endParaRPr lang="en-US" sz="1600"/>
          </a:p>
          <a:p>
            <a:r>
              <a:rPr lang="en-US" sz="1600"/>
              <a:t>int index = -1;</a:t>
            </a:r>
            <a:endParaRPr lang="en-US" sz="1600"/>
          </a:p>
        </p:txBody>
      </p:sp>
      <p:cxnSp>
        <p:nvCxnSpPr>
          <p:cNvPr id="3" name="Straight Arrow Connector 2"/>
          <p:cNvCxnSpPr/>
          <p:nvPr/>
        </p:nvCxnSpPr>
        <p:spPr>
          <a:xfrm flipH="1">
            <a:off x="5124450" y="2117090"/>
            <a:ext cx="1301115" cy="23050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2391410" y="3418205"/>
            <a:ext cx="4124325" cy="66103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6265545" y="1486535"/>
            <a:ext cx="5765165" cy="442489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600"/>
              <a:t>public boolean getEmail(String email) {</a:t>
            </a:r>
            <a:endParaRPr lang="en-US" sz="1600"/>
          </a:p>
          <a:p>
            <a:r>
              <a:rPr lang="en-US" sz="1600"/>
              <a:t>	waitABit(3000);</a:t>
            </a:r>
            <a:endParaRPr lang="en-US" sz="1600"/>
          </a:p>
          <a:p>
            <a:r>
              <a:rPr lang="en-US" sz="1600"/>
              <a:t>	for(int i=0; i&lt;emailList.size(); i++)</a:t>
            </a:r>
            <a:endParaRPr lang="en-US" sz="1600"/>
          </a:p>
          <a:p>
            <a:r>
              <a:rPr lang="en-US" sz="1600"/>
              <a:t>	{</a:t>
            </a:r>
            <a:endParaRPr lang="en-US" sz="1600"/>
          </a:p>
          <a:p>
            <a:r>
              <a:rPr lang="en-US" sz="1600"/>
              <a:t>	     System.out.print(emailList.get(i).getText());	     if(emailList.get(i).getText().equals(email))</a:t>
            </a:r>
            <a:endParaRPr lang="en-US" sz="1600"/>
          </a:p>
          <a:p>
            <a:r>
              <a:rPr lang="en-US" sz="1600"/>
              <a:t>	      {</a:t>
            </a:r>
            <a:endParaRPr lang="en-US" sz="1600"/>
          </a:p>
          <a:p>
            <a:r>
              <a:rPr lang="en-US" sz="1600"/>
              <a:t>		count+=1;</a:t>
            </a:r>
            <a:endParaRPr lang="en-US" sz="1600"/>
          </a:p>
          <a:p>
            <a:r>
              <a:rPr lang="en-US" sz="1600"/>
              <a:t>		index=i;</a:t>
            </a:r>
            <a:endParaRPr lang="en-US" sz="1600"/>
          </a:p>
          <a:p>
            <a:r>
              <a:rPr lang="en-US" sz="1600"/>
              <a:t>	      }</a:t>
            </a:r>
            <a:endParaRPr lang="en-US" sz="1600"/>
          </a:p>
          <a:p>
            <a:r>
              <a:rPr lang="en-US" sz="1600"/>
              <a:t>	}</a:t>
            </a:r>
            <a:endParaRPr lang="en-US" sz="1600"/>
          </a:p>
          <a:p>
            <a:r>
              <a:rPr lang="en-US" sz="1600"/>
              <a:t>	if(count!=1)</a:t>
            </a:r>
            <a:endParaRPr lang="en-US" sz="1600"/>
          </a:p>
          <a:p>
            <a:r>
              <a:rPr lang="en-US" sz="1600"/>
              <a:t> 		return false;</a:t>
            </a:r>
            <a:endParaRPr lang="en-US" sz="1600"/>
          </a:p>
          <a:p>
            <a:r>
              <a:rPr lang="en-US" sz="1600"/>
              <a:t>	else</a:t>
            </a:r>
            <a:endParaRPr lang="en-US" sz="1600"/>
          </a:p>
          <a:p>
            <a:r>
              <a:rPr lang="en-US" sz="1600"/>
              <a:t>		return true;</a:t>
            </a:r>
            <a:endParaRPr lang="en-US" sz="1600"/>
          </a:p>
          <a:p>
            <a:r>
              <a:rPr lang="en-US" sz="1600"/>
              <a:t>}</a:t>
            </a:r>
            <a:endParaRPr lang="en-US" sz="1600"/>
          </a:p>
        </p:txBody>
      </p:sp>
      <p:pic>
        <p:nvPicPr>
          <p:cNvPr id="3" name="Content Placeholder 2" descr="li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486535"/>
            <a:ext cx="5462905" cy="4953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5904865" y="1586865"/>
            <a:ext cx="6154420" cy="304447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en-US" sz="1600"/>
              <a:t>public boolean getUserName(String username) {</a:t>
            </a:r>
            <a:endParaRPr lang="en-US" sz="1600"/>
          </a:p>
          <a:p>
            <a:r>
              <a:rPr lang="en-US" sz="1600"/>
              <a:t>	if(count!=1)</a:t>
            </a:r>
            <a:endParaRPr lang="en-US" sz="1600"/>
          </a:p>
          <a:p>
            <a:r>
              <a:rPr lang="en-US" sz="1600"/>
              <a:t>   	        return false;</a:t>
            </a:r>
            <a:endParaRPr lang="en-US" sz="1600"/>
          </a:p>
          <a:p>
            <a:r>
              <a:rPr lang="en-US" sz="1600"/>
              <a:t>	else </a:t>
            </a:r>
            <a:endParaRPr lang="en-US" sz="1600"/>
          </a:p>
          <a:p>
            <a:r>
              <a:rPr lang="en-US" sz="1600"/>
              <a:t>	{		                           	if(userList.get(index).getText().equals(username))</a:t>
            </a:r>
            <a:endParaRPr lang="en-US" sz="1600"/>
          </a:p>
          <a:p>
            <a:r>
              <a:rPr lang="en-US" sz="1600"/>
              <a:t>	      return true;</a:t>
            </a:r>
            <a:endParaRPr lang="en-US" sz="1600"/>
          </a:p>
          <a:p>
            <a:r>
              <a:rPr lang="en-US" sz="1600"/>
              <a:t>	else </a:t>
            </a:r>
            <a:endParaRPr lang="en-US" sz="1600"/>
          </a:p>
          <a:p>
            <a:r>
              <a:rPr lang="en-US" sz="1600"/>
              <a:t>	      return false;</a:t>
            </a:r>
            <a:endParaRPr lang="en-US" sz="1600"/>
          </a:p>
          <a:p>
            <a:r>
              <a:rPr lang="en-US" sz="1600"/>
              <a:t>	}</a:t>
            </a:r>
            <a:endParaRPr lang="en-US" sz="1600"/>
          </a:p>
          <a:p>
            <a:r>
              <a:rPr lang="en-US" sz="1600"/>
              <a:t>}</a:t>
            </a:r>
            <a:endParaRPr lang="en-US" sz="1600"/>
          </a:p>
        </p:txBody>
      </p:sp>
      <p:pic>
        <p:nvPicPr>
          <p:cNvPr id="4" name="Content Placeholder 3" descr="li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391920"/>
            <a:ext cx="5188585" cy="48723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Admin-Duplicate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"Email cd.0022@yopmail.com is already in use" was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dupplicat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197600" y="1584960"/>
            <a:ext cx="5384800" cy="4131945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5644515" y="2427605"/>
            <a:ext cx="550545" cy="1151255"/>
          </a:xfrm>
          <a:prstGeom prst="straightConnector1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882140"/>
            <a:ext cx="6036310" cy="142875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/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@Then</a:t>
            </a:r>
            <a:r>
              <a:rPr lang="en-US" sz="1200"/>
              <a:t>("</a:t>
            </a:r>
            <a:r>
              <a:rPr lang="en-US" sz="1200">
                <a:solidFill>
                  <a:srgbClr val="00B0F0"/>
                </a:solidFill>
              </a:rPr>
              <a:t>^The \"([^\"]*)\" was shown on screen\\.$</a:t>
            </a:r>
            <a:r>
              <a:rPr lang="en-US" sz="1200"/>
              <a:t>")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public void the_was_shown_on_screen(String errMessage) throws Exception {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  Assert.assertEquals(errMessage, ManageUserProfileStep.get_error_message());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}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dupplicat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767830" y="1584960"/>
            <a:ext cx="4814570" cy="413194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99745" y="4269740"/>
            <a:ext cx="6146165" cy="159131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indent="0" algn="l">
              <a:buNone/>
            </a:pPr>
            <a:r>
              <a:rPr lang="en-US" sz="1200">
                <a:sym typeface="+mn-ea"/>
              </a:rPr>
              <a:t>@FindBy(xpath="//*[@class='gj-error alert alert-danger']")</a:t>
            </a:r>
            <a:endParaRPr lang="en-US" sz="1200"/>
          </a:p>
          <a:p>
            <a:pPr marL="0" indent="0" algn="l">
              <a:buNone/>
            </a:pPr>
            <a:r>
              <a:rPr lang="en-US" sz="1200">
                <a:sym typeface="+mn-ea"/>
              </a:rPr>
              <a:t>private WebElementFacade errMess;</a:t>
            </a:r>
            <a:endParaRPr lang="en-US" sz="1200"/>
          </a:p>
          <a:p>
            <a:pPr marL="0" indent="0" algn="l">
              <a:buNone/>
            </a:pPr>
            <a:endParaRPr lang="en-US" sz="1200"/>
          </a:p>
          <a:p>
            <a:pPr marL="0" indent="0" algn="l">
              <a:buNone/>
            </a:pPr>
            <a:endParaRPr lang="en-US" sz="1200"/>
          </a:p>
          <a:p>
            <a:pPr marL="0" indent="0" algn="l">
              <a:buNone/>
            </a:pPr>
            <a:r>
              <a:rPr lang="en-US" sz="1200">
                <a:sym typeface="+mn-ea"/>
              </a:rPr>
              <a:t>public String get_err_message() {</a:t>
            </a:r>
            <a:endParaRPr lang="en-US" sz="1200"/>
          </a:p>
          <a:p>
            <a:pPr marL="0" indent="0" algn="l">
              <a:buNone/>
            </a:pPr>
            <a:r>
              <a:rPr lang="en-US" sz="1200">
                <a:sym typeface="+mn-ea"/>
              </a:rPr>
              <a:t>	return errMess.waitUntilPresent().getText();</a:t>
            </a:r>
            <a:endParaRPr lang="en-US" sz="1200"/>
          </a:p>
          <a:p>
            <a:pPr marL="0" indent="0" algn="l">
              <a:buNone/>
            </a:pPr>
            <a:r>
              <a:rPr lang="en-US" sz="1200">
                <a:sym typeface="+mn-ea"/>
              </a:rPr>
              <a:t>}</a:t>
            </a:r>
            <a:endParaRPr lang="en-US" sz="120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6" name="Straight Arrow Connector 5"/>
          <p:cNvCxnSpPr>
            <a:stCxn id="4" idx="2"/>
          </p:cNvCxnSpPr>
          <p:nvPr/>
        </p:nvCxnSpPr>
        <p:spPr>
          <a:xfrm>
            <a:off x="3627755" y="3310890"/>
            <a:ext cx="635" cy="898525"/>
          </a:xfrm>
          <a:prstGeom prst="straightConnector1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45908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Admin-Archived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Confirmation popup should shows "cd.0022@yopmail.com was previously used and deleted from the system. Do you want to re-enable this account?"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archiv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9600" y="3731260"/>
            <a:ext cx="7797800" cy="26327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45908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9" name="Content Placeholder 8" descr="archiv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4813300" y="1468755"/>
            <a:ext cx="7037705" cy="2632710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139065" y="4219575"/>
            <a:ext cx="6977380" cy="91122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@Then("^Confirmation popup should shows \"([^\"]*)\"$")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confirmation_popup_should_shows(String confirmMess) throws Exception {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Assert.assertEquals(confirmMess, manageUserProfileStep.get_confirm_message());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813300" y="5220970"/>
            <a:ext cx="7076440" cy="131064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@FindBy(xpath="//*[@class='modal-body']")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private WebElementFacade confirmMess;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String get_confirm() {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return confirmMess.getText();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6" name="Curved Connector 5"/>
          <p:cNvCxnSpPr>
            <a:stCxn id="2" idx="2"/>
          </p:cNvCxnSpPr>
          <p:nvPr/>
        </p:nvCxnSpPr>
        <p:spPr>
          <a:xfrm rot="5400000" flipV="1">
            <a:off x="3852545" y="4905375"/>
            <a:ext cx="711200" cy="1161415"/>
          </a:xfrm>
          <a:prstGeom prst="curvedConnector2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Update User Profile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User menu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User profile link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Update First Name is "Truyen", Last Name is "Kieu"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"hl.01@yopmail.com"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profil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884545" y="1174750"/>
            <a:ext cx="5384800" cy="25679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Company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  <a:effectLst/>
              </a:rPr>
              <a:t>And </a:t>
            </a:r>
            <a:r>
              <a:rPr lang="en-US" sz="1200"/>
              <a:t>Click on Add Company button on Manage Companies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required field are Company Name: "Cdbently 021", Company Identifier: "11-1111111" and select required drop down box.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Street Address is "123 new orl land", City is "newyork", State is "US", Zip is "11111".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user with Fist Name is "user2 fName", Last Name is "user2 lName", and Email is "cd.0021@yopmail.com"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Manage Companies screen and "Manage Companies" should shown.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"Cdbently 021" Shows correctly on Manage Companies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8" name="Content Placeholder 7" descr="tab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802005" y="4067175"/>
            <a:ext cx="6145530" cy="24314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8" name="Content Placeholder 7" descr="tab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464300" y="1186815"/>
            <a:ext cx="4975225" cy="2431415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179705" y="1548130"/>
            <a:ext cx="6104890" cy="425259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input_required_fields(String companyName, String companyIdentifier) {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companyNameInput.waitUntilPresent().type(companyName);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einInput.waitUntilPresent().type(companyIdentifier);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try {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en-US" altLang="zh-CN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Robot r = new Robot();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einInput.click();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r.keyPress(KeyEvent.VK_TAB);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r.keyRelease(KeyEvent.VK_TAB);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r.keyRelease(KeyEvent.VK_DOWN);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r.keyPress(KeyEvent.VK_ENTER);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r.keyRelease(KeyEvent.VK_ENTER);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waitABit(3000);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r.keyPress(KeyEvent.VK_TAB);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r.keyRelease(KeyEvent.VK_TAB);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				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4493895" y="2457450"/>
            <a:ext cx="2251710" cy="430530"/>
          </a:xfrm>
          <a:prstGeom prst="straightConnector1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1" name="Straight Arrow Connector 10"/>
          <p:cNvCxnSpPr/>
          <p:nvPr/>
        </p:nvCxnSpPr>
        <p:spPr>
          <a:xfrm flipV="1">
            <a:off x="4653915" y="2847975"/>
            <a:ext cx="3543300" cy="550545"/>
          </a:xfrm>
          <a:prstGeom prst="straightConnector1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2" name="Straight Arrow Connector 11"/>
          <p:cNvCxnSpPr/>
          <p:nvPr/>
        </p:nvCxnSpPr>
        <p:spPr>
          <a:xfrm flipV="1">
            <a:off x="4664075" y="2867660"/>
            <a:ext cx="3503295" cy="1461770"/>
          </a:xfrm>
          <a:prstGeom prst="straightConnector1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" name="Straight Arrow Connector 12"/>
          <p:cNvCxnSpPr/>
          <p:nvPr/>
        </p:nvCxnSpPr>
        <p:spPr>
          <a:xfrm flipV="1">
            <a:off x="3382645" y="2447290"/>
            <a:ext cx="3133090" cy="240665"/>
          </a:xfrm>
          <a:prstGeom prst="straightConnector1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8" name="Content Placeholder 7" descr="tab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14085" y="1482090"/>
            <a:ext cx="5425440" cy="2431415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569595" y="1576705"/>
            <a:ext cx="5124450" cy="44831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input_required_fields(String companyName, String companyIdentifier) {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companyNameInput.waitUntilPresent().type(companyName);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einInput.waitUntilPresent().type(companyIdentifier);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ry {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r.keyPress(KeyEvent.VK_ENTER);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r.keyRelease(KeyEvent.VK_ENTER);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waitABit(3000);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r.keyPress(KeyEvent.VK_TAB);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r.keyRelease(KeyEvent.VK_TAB);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waitABit(2000);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r.keyRelease(KeyEvent.VK_DOWN);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r.keyPress(KeyEvent.VK_ENTER);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	r.keyRelease(KeyEvent.VK_ENTER);	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} catch (AWTException e) {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         e.printStackTrace();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}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Click on element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1525905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a. Some time can't click on element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5335" y="2053590"/>
            <a:ext cx="5853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Do click before element is presented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775335" y="2855595"/>
            <a:ext cx="4180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Wait element is presented and click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75335" y="3747135"/>
            <a:ext cx="10125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70C0"/>
                </a:solidFill>
              </a:rPr>
              <a:t>public void click_on_next_button() 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//waitABit(2000);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nextBtn.waitUntilPresent().click();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</a:t>
            </a:r>
            <a:endParaRPr lang="en-US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Click on element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1525905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b. Some time click on button isn't success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5335" y="2053590"/>
            <a:ext cx="5853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Unknown, maybe Selenium isn't stable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Content Placeholder 6" descr="manag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885815" y="1029335"/>
            <a:ext cx="5015230" cy="275717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75335" y="4053840"/>
            <a:ext cx="4180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Using Javascript to click on element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75335" y="4817745"/>
            <a:ext cx="10125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70C0"/>
                </a:solidFill>
              </a:rPr>
              <a:t>public void click_Manage_button() 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JavascriptExecutor excutor = (JavascriptExecutor)getDriver();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excutor.executeScript("arguments[0].click();", manageBtn);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</a:t>
            </a:r>
            <a:endParaRPr lang="en-US">
              <a:solidFill>
                <a:srgbClr val="0070C0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512570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b. Some time click on button isn't success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Get locator very hard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la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193030" y="1570990"/>
            <a:ext cx="6389370" cy="280860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09600" y="1570990"/>
            <a:ext cx="43116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Number of row is changed after add an user success.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09600" y="4864735"/>
            <a:ext cx="418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Get last row.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09600" y="5424805"/>
            <a:ext cx="762571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olidFill>
                  <a:srgbClr val="0070C0"/>
                </a:solidFill>
              </a:rPr>
              <a:t>@FindBy(xpath="//*[@class='rt-tr-group'][last()]/div/div[1]/input")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private WebElementFacade firstnameField;</a:t>
            </a:r>
            <a:endParaRPr lang="en-US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Can't focus on element.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609600" y="1570990"/>
            <a:ext cx="43116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Element drop down list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09600" y="2277745"/>
            <a:ext cx="418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Using Robot class. 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9" name="Content Placeholder 8" descr="drop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458335" y="1939290"/>
            <a:ext cx="7124065" cy="2974340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609600" y="2850515"/>
            <a:ext cx="4006850" cy="32918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600">
                <a:solidFill>
                  <a:srgbClr val="0070C0"/>
                </a:solidFill>
              </a:rPr>
              <a:t>Robot r;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try {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 = new Robot();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roleOption.click();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waitABit(3000);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r.keyPress(KeyEvent.VK_DOWN);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r.keyRelease(KeyEvent.VK_DOWN);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waitABit(3000);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r.keyPress(KeyEvent.VK_ENTER);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r.keyRelease(KeyEvent.VK_ENTER);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} catch (AWTException e) {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e.printStackTrace();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}</a:t>
            </a:r>
            <a:endParaRPr lang="en-US" sz="160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IV. Demo.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 algn="ctr">
              <a:lnSpc>
                <a:spcPct val="360000"/>
              </a:lnSpc>
              <a:buNone/>
            </a:pPr>
            <a:r>
              <a:rPr lang="en-US" sz="4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Run Demo</a:t>
            </a:r>
            <a:endParaRPr lang="en-US" sz="4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9549</Words>
  <Application>WPS Presentation</Application>
  <PresentationFormat>Widescreen</PresentationFormat>
  <Paragraphs>389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9" baseType="lpstr">
      <vt:lpstr>Arial</vt:lpstr>
      <vt:lpstr>SimSun</vt:lpstr>
      <vt:lpstr>Wingdings</vt:lpstr>
      <vt:lpstr>Microsoft YaHei</vt:lpstr>
      <vt:lpstr>Calibri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kvtruyen</cp:lastModifiedBy>
  <cp:revision>157</cp:revision>
  <dcterms:created xsi:type="dcterms:W3CDTF">2017-12-03T10:52:00Z</dcterms:created>
  <dcterms:modified xsi:type="dcterms:W3CDTF">2018-04-17T09:04:29Z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1033-10.2.0.5871</vt:lpwstr>
  </property>
</Properties>
</file>